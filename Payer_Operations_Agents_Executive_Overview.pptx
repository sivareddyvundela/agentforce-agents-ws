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70" r:id="rId21"/>
    <p:sldId id="259" r:id="rId10"/>
    <p:sldId id="260" r:id="rId11"/>
    <p:sldId id="261" r:id="rId12"/>
    <p:sldId id="262" r:id="rId13"/>
    <p:sldId id="263" r:id="rId14"/>
    <p:sldId id="264" r:id="rId15"/>
    <p:sldId id="265" r:id="rId16"/>
    <p:sldId id="271" r:id="rId22"/>
    <p:sldId id="272" r:id="rId23"/>
    <p:sldId id="273" r:id="rId24"/>
    <p:sldId id="274" r:id="rId25"/>
    <p:sldId id="275" r:id="rId26"/>
    <p:sldId id="277" r:id="rId28"/>
    <p:sldId id="269" r:id="rId20"/>
    <p:sldId id="276" r:id="rId27"/>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18.xml"/><Relationship Id="rId21" Type="http://schemas.openxmlformats.org/officeDocument/2006/relationships/slide" Target="slides/slide4.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9.xml"/><Relationship Id="rId28"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5486400" cy="365760"/>
          </a:xfrm>
          <a:prstGeom prst="rect">
            <a:avLst/>
          </a:prstGeom>
          <a:noFill/>
        </p:spPr>
        <p:txBody>
          <a:bodyPr wrap="square" anchor="t">
            <a:spAutoFit/>
          </a:bodyPr>
          <a:lstStyle/>
          <a:p>
            <a:pPr algn="l">
              <a:lnSpc>
                <a:spcPct val="105000"/>
              </a:lnSpc>
              <a:spcBef>
                <a:spcPts val="0"/>
              </a:spcBef>
              <a:spcAft>
                <a:spcPts val="600"/>
              </a:spcAft>
            </a:pPr>
            <a:r>
              <a:rPr sz="1300" b="1">
                <a:solidFill>
                  <a:srgbClr val="8EC7F0"/>
                </a:solidFill>
                <a:latin typeface="Calibri"/>
              </a:rPr>
              <a:t>AGENTFORCE  ·  PAYER OPERATIONS</a:t>
            </a:r>
          </a:p>
        </p:txBody>
      </p:sp>
      <p:sp>
        <p:nvSpPr>
          <p:cNvPr id="5" name="TextBox 4"/>
          <p:cNvSpPr txBox="1"/>
          <p:nvPr/>
        </p:nvSpPr>
        <p:spPr>
          <a:xfrm>
            <a:off x="777240" y="2286000"/>
            <a:ext cx="10607040" cy="1737360"/>
          </a:xfrm>
          <a:prstGeom prst="rect">
            <a:avLst/>
          </a:prstGeom>
          <a:noFill/>
        </p:spPr>
        <p:txBody>
          <a:bodyPr wrap="square" anchor="t">
            <a:spAutoFit/>
          </a:bodyPr>
          <a:lstStyle/>
          <a:p>
            <a:pPr algn="l">
              <a:lnSpc>
                <a:spcPct val="105000"/>
              </a:lnSpc>
              <a:spcBef>
                <a:spcPts val="0"/>
              </a:spcBef>
              <a:spcAft>
                <a:spcPts val="1000"/>
              </a:spcAft>
            </a:pPr>
            <a:r>
              <a:rPr sz="4600" b="1">
                <a:solidFill>
                  <a:srgbClr val="FFFFFF"/>
                </a:solidFill>
                <a:latin typeface="Calibri"/>
              </a:rPr>
              <a:t>Payer Operations Agents</a:t>
            </a:r>
          </a:p>
          <a:p>
            <a:pPr algn="l">
              <a:lnSpc>
                <a:spcPct val="105000"/>
              </a:lnSpc>
              <a:spcBef>
                <a:spcPts val="0"/>
              </a:spcBef>
              <a:spcAft>
                <a:spcPts val="1000"/>
              </a:spcAft>
            </a:pPr>
            <a:r>
              <a:rPr sz="2200" b="0">
                <a:solidFill>
                  <a:srgbClr val="C9DDF2"/>
                </a:solidFill>
                <a:latin typeface="Calibri"/>
              </a:rPr>
              <a:t>An AI agent portfolio across provider, member, employer, and contact-center operations</a:t>
            </a:r>
          </a:p>
        </p:txBody>
      </p:sp>
      <p:sp>
        <p:nvSpPr>
          <p:cNvPr id="6" name="TextBox 5"/>
          <p:cNvSpPr txBox="1"/>
          <p:nvPr/>
        </p:nvSpPr>
        <p:spPr>
          <a:xfrm>
            <a:off x="822960" y="4389120"/>
            <a:ext cx="10515600" cy="1463040"/>
          </a:xfrm>
          <a:prstGeom prst="rect">
            <a:avLst/>
          </a:prstGeom>
          <a:noFill/>
        </p:spPr>
        <p:txBody>
          <a:bodyPr wrap="square" anchor="t">
            <a:spAutoFit/>
          </a:bodyPr>
          <a:lstStyle/>
          <a:p>
            <a:pPr algn="l">
              <a:lnSpc>
                <a:spcPct val="105000"/>
              </a:lnSpc>
              <a:spcBef>
                <a:spcPts val="0"/>
              </a:spcBef>
              <a:spcAft>
                <a:spcPts val="800"/>
              </a:spcAft>
            </a:pPr>
            <a:r>
              <a:rPr sz="1800" b="1">
                <a:solidFill>
                  <a:srgbClr val="FFFFFF"/>
                </a:solidFill>
                <a:latin typeface="Calibri"/>
              </a:rPr>
              <a:t>Executive Overview</a:t>
            </a:r>
          </a:p>
          <a:p>
            <a:pPr algn="l">
              <a:lnSpc>
                <a:spcPct val="105000"/>
              </a:lnSpc>
              <a:spcBef>
                <a:spcPts val="0"/>
              </a:spcBef>
              <a:spcAft>
                <a:spcPts val="800"/>
              </a:spcAft>
            </a:pPr>
            <a:r>
              <a:rPr sz="1400" b="0">
                <a:solidFill>
                  <a:srgbClr val="B9C6D6"/>
                </a:solidFill>
                <a:latin typeface="Calibri"/>
              </a:rPr>
              <a:t>Twelve purpose-built Agentforce agents that automate contract inquiry, provider search, network support, member coverage changes, employer group support, provider enrollment, credentialing status, network participation verification, claims assistance, issue triage, provider termination, and member benefits &amp; eligibility.</a:t>
            </a:r>
          </a:p>
        </p:txBody>
      </p:sp>
      <p:sp>
        <p:nvSpPr>
          <p:cNvPr id="7" name="TextBox 6"/>
          <p:cNvSpPr txBox="1"/>
          <p:nvPr/>
        </p:nvSpPr>
        <p:spPr>
          <a:xfrm>
            <a:off x="822960" y="6172200"/>
            <a:ext cx="10058400" cy="365760"/>
          </a:xfrm>
          <a:prstGeom prst="rect">
            <a:avLst/>
          </a:prstGeom>
          <a:noFill/>
        </p:spPr>
        <p:txBody>
          <a:bodyPr wrap="square" anchor="t">
            <a:spAutoFit/>
          </a:bodyPr>
          <a:lstStyle/>
          <a:p>
            <a:pPr algn="l">
              <a:lnSpc>
                <a:spcPct val="105000"/>
              </a:lnSpc>
              <a:spcBef>
                <a:spcPts val="0"/>
              </a:spcBef>
              <a:spcAft>
                <a:spcPts val="600"/>
              </a:spcAft>
            </a:pPr>
            <a:r>
              <a:rPr sz="1200" b="0">
                <a:solidFill>
                  <a:srgbClr val="8A99B0"/>
                </a:solidFill>
                <a:latin typeface="Calibri"/>
              </a:rPr>
              <a:t>Prepared for the Executive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THE OPPORTUNITY</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Why payer-operations agents</a:t>
            </a:r>
          </a:p>
        </p:txBody>
      </p:sp>
      <p:sp>
        <p:nvSpPr>
          <p:cNvPr id="6" name="TextBox 5"/>
          <p:cNvSpPr txBox="1"/>
          <p:nvPr/>
        </p:nvSpPr>
        <p:spPr>
          <a:xfrm>
            <a:off x="548640" y="1325880"/>
            <a:ext cx="11064240" cy="914400"/>
          </a:xfrm>
          <a:prstGeom prst="rect">
            <a:avLst/>
          </a:prstGeom>
          <a:noFill/>
        </p:spPr>
        <p:txBody>
          <a:bodyPr wrap="square" anchor="t">
            <a:spAutoFit/>
          </a:bodyPr>
          <a:lstStyle/>
          <a:p>
            <a:pPr algn="l">
              <a:lnSpc>
                <a:spcPct val="115000"/>
              </a:lnSpc>
              <a:spcBef>
                <a:spcPts val="0"/>
              </a:spcBef>
              <a:spcAft>
                <a:spcPts val="600"/>
              </a:spcAft>
            </a:pPr>
            <a:r>
              <a:rPr sz="1500" b="0">
                <a:solidFill>
                  <a:srgbClr val="444B54"/>
                </a:solidFill>
                <a:latin typeface="Calibri"/>
              </a:rPr>
              <a:t>Payer operations are high-volume, data-heavy, and compliance-sensitive — spanning provider network management, claims and issue support, enrollment, and contact-center service. Staff spend hours searching across contracts, credentials, claims, and directory records; providers, members, and employer groups wait on routine requests. These agents put trusted answers and guided actions one conversation away — grounded in Salesforce data, governed by approvals and audit trails.</a:t>
            </a:r>
          </a:p>
        </p:txBody>
      </p:sp>
      <p:sp>
        <p:nvSpPr>
          <p:cNvPr id="7" name="Rectangle 6"/>
          <p:cNvSpPr/>
          <p:nvPr/>
        </p:nvSpPr>
        <p:spPr>
          <a:xfrm>
            <a:off x="548640" y="2788920"/>
            <a:ext cx="36027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88920"/>
            <a:ext cx="3602736" cy="128016"/>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63240"/>
            <a:ext cx="3145536" cy="548640"/>
          </a:xfrm>
          <a:prstGeom prst="rect">
            <a:avLst/>
          </a:prstGeom>
          <a:noFill/>
        </p:spPr>
        <p:txBody>
          <a:bodyPr wrap="square" anchor="t">
            <a:spAutoFit/>
          </a:bodyPr>
          <a:lstStyle/>
          <a:p>
            <a:pPr algn="l">
              <a:lnSpc>
                <a:spcPct val="105000"/>
              </a:lnSpc>
              <a:spcBef>
                <a:spcPts val="0"/>
              </a:spcBef>
              <a:spcAft>
                <a:spcPts val="600"/>
              </a:spcAft>
            </a:pPr>
            <a:r>
              <a:rPr sz="1700" b="1">
                <a:solidFill>
                  <a:srgbClr val="032D60"/>
                </a:solidFill>
                <a:latin typeface="Calibri"/>
              </a:rPr>
              <a:t>Faster service</a:t>
            </a:r>
          </a:p>
        </p:txBody>
      </p:sp>
      <p:sp>
        <p:nvSpPr>
          <p:cNvPr id="10" name="TextBox 9"/>
          <p:cNvSpPr txBox="1"/>
          <p:nvPr/>
        </p:nvSpPr>
        <p:spPr>
          <a:xfrm>
            <a:off x="777240" y="3611880"/>
            <a:ext cx="3145536" cy="1463040"/>
          </a:xfrm>
          <a:prstGeom prst="rect">
            <a:avLst/>
          </a:prstGeom>
          <a:noFill/>
        </p:spPr>
        <p:txBody>
          <a:bodyPr wrap="square" anchor="t">
            <a:spAutoFit/>
          </a:bodyPr>
          <a:lstStyle/>
          <a:p>
            <a:pPr algn="l">
              <a:lnSpc>
                <a:spcPct val="115000"/>
              </a:lnSpc>
              <a:spcBef>
                <a:spcPts val="0"/>
              </a:spcBef>
              <a:spcAft>
                <a:spcPts val="600"/>
              </a:spcAft>
            </a:pPr>
            <a:r>
              <a:rPr sz="1350" b="0">
                <a:solidFill>
                  <a:srgbClr val="444B54"/>
                </a:solidFill>
                <a:latin typeface="Calibri"/>
              </a:rPr>
              <a:t>Answers and lookups in seconds, not minutes — across contracts, profiles, and credentials.</a:t>
            </a:r>
          </a:p>
        </p:txBody>
      </p:sp>
      <p:sp>
        <p:nvSpPr>
          <p:cNvPr id="11" name="Rectangle 10"/>
          <p:cNvSpPr/>
          <p:nvPr/>
        </p:nvSpPr>
        <p:spPr>
          <a:xfrm>
            <a:off x="4325112" y="2788920"/>
            <a:ext cx="36027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5112" y="2788920"/>
            <a:ext cx="3602736" cy="128016"/>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063240"/>
            <a:ext cx="3145536" cy="548640"/>
          </a:xfrm>
          <a:prstGeom prst="rect">
            <a:avLst/>
          </a:prstGeom>
          <a:noFill/>
        </p:spPr>
        <p:txBody>
          <a:bodyPr wrap="square" anchor="t">
            <a:spAutoFit/>
          </a:bodyPr>
          <a:lstStyle/>
          <a:p>
            <a:pPr algn="l">
              <a:lnSpc>
                <a:spcPct val="105000"/>
              </a:lnSpc>
              <a:spcBef>
                <a:spcPts val="0"/>
              </a:spcBef>
              <a:spcAft>
                <a:spcPts val="600"/>
              </a:spcAft>
            </a:pPr>
            <a:r>
              <a:rPr sz="1700" b="1">
                <a:solidFill>
                  <a:srgbClr val="032D60"/>
                </a:solidFill>
                <a:latin typeface="Calibri"/>
              </a:rPr>
              <a:t>Accuracy &amp; compliance</a:t>
            </a:r>
          </a:p>
        </p:txBody>
      </p:sp>
      <p:sp>
        <p:nvSpPr>
          <p:cNvPr id="14" name="TextBox 13"/>
          <p:cNvSpPr txBox="1"/>
          <p:nvPr/>
        </p:nvSpPr>
        <p:spPr>
          <a:xfrm>
            <a:off x="4553712" y="3611880"/>
            <a:ext cx="3145536" cy="1463040"/>
          </a:xfrm>
          <a:prstGeom prst="rect">
            <a:avLst/>
          </a:prstGeom>
          <a:noFill/>
        </p:spPr>
        <p:txBody>
          <a:bodyPr wrap="square" anchor="t">
            <a:spAutoFit/>
          </a:bodyPr>
          <a:lstStyle/>
          <a:p>
            <a:pPr algn="l">
              <a:lnSpc>
                <a:spcPct val="115000"/>
              </a:lnSpc>
              <a:spcBef>
                <a:spcPts val="0"/>
              </a:spcBef>
              <a:spcAft>
                <a:spcPts val="600"/>
              </a:spcAft>
            </a:pPr>
            <a:r>
              <a:rPr sz="1350" b="0">
                <a:solidFill>
                  <a:srgbClr val="444B54"/>
                </a:solidFill>
                <a:latin typeface="Calibri"/>
              </a:rPr>
              <a:t>Governed change requests, verification, and immutable audit logging keep data trustworthy.</a:t>
            </a:r>
          </a:p>
        </p:txBody>
      </p:sp>
      <p:sp>
        <p:nvSpPr>
          <p:cNvPr id="15" name="Rectangle 14"/>
          <p:cNvSpPr/>
          <p:nvPr/>
        </p:nvSpPr>
        <p:spPr>
          <a:xfrm>
            <a:off x="8101584" y="2788920"/>
            <a:ext cx="36027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01584" y="2788920"/>
            <a:ext cx="3602736" cy="128016"/>
          </a:xfrm>
          <a:prstGeom prst="rect">
            <a:avLst/>
          </a:prstGeom>
          <a:solidFill>
            <a:srgbClr val="B860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4" y="3063240"/>
            <a:ext cx="3145536" cy="548640"/>
          </a:xfrm>
          <a:prstGeom prst="rect">
            <a:avLst/>
          </a:prstGeom>
          <a:noFill/>
        </p:spPr>
        <p:txBody>
          <a:bodyPr wrap="square" anchor="t">
            <a:spAutoFit/>
          </a:bodyPr>
          <a:lstStyle/>
          <a:p>
            <a:pPr algn="l">
              <a:lnSpc>
                <a:spcPct val="105000"/>
              </a:lnSpc>
              <a:spcBef>
                <a:spcPts val="0"/>
              </a:spcBef>
              <a:spcAft>
                <a:spcPts val="600"/>
              </a:spcAft>
            </a:pPr>
            <a:r>
              <a:rPr sz="1700" b="1">
                <a:solidFill>
                  <a:srgbClr val="032D60"/>
                </a:solidFill>
                <a:latin typeface="Calibri"/>
              </a:rPr>
              <a:t>Lower cost to serve</a:t>
            </a:r>
          </a:p>
        </p:txBody>
      </p:sp>
      <p:sp>
        <p:nvSpPr>
          <p:cNvPr id="18" name="TextBox 17"/>
          <p:cNvSpPr txBox="1"/>
          <p:nvPr/>
        </p:nvSpPr>
        <p:spPr>
          <a:xfrm>
            <a:off x="8330184" y="3611880"/>
            <a:ext cx="3145536" cy="1463040"/>
          </a:xfrm>
          <a:prstGeom prst="rect">
            <a:avLst/>
          </a:prstGeom>
          <a:noFill/>
        </p:spPr>
        <p:txBody>
          <a:bodyPr wrap="square" anchor="t">
            <a:spAutoFit/>
          </a:bodyPr>
          <a:lstStyle/>
          <a:p>
            <a:pPr algn="l">
              <a:lnSpc>
                <a:spcPct val="115000"/>
              </a:lnSpc>
              <a:spcBef>
                <a:spcPts val="0"/>
              </a:spcBef>
              <a:spcAft>
                <a:spcPts val="600"/>
              </a:spcAft>
            </a:pPr>
            <a:r>
              <a:rPr sz="1350" b="0">
                <a:solidFill>
                  <a:srgbClr val="444B54"/>
                </a:solidFill>
                <a:latin typeface="Calibri"/>
              </a:rPr>
              <a:t>Deflect routine inquiries and automate data entry; escalate to people only when needed.</a:t>
            </a:r>
          </a:p>
        </p:txBody>
      </p:sp>
      <p:sp>
        <p:nvSpPr>
          <p:cNvPr id="19" name="TextBox 18"/>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20" name="TextBox 19"/>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TWELVE AGENTS, ACROSS THE PAYER OPERATION</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The portfolio at a glance (1 of 2)</a:t>
            </a:r>
          </a:p>
        </p:txBody>
      </p:sp>
      <p:sp>
        <p:nvSpPr>
          <p:cNvPr id="6" name="Rectangle 5"/>
          <p:cNvSpPr/>
          <p:nvPr/>
        </p:nvSpPr>
        <p:spPr>
          <a:xfrm>
            <a:off x="548640" y="1371600"/>
            <a:ext cx="11091672" cy="384048"/>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99032"/>
            <a:ext cx="3383280" cy="329184"/>
          </a:xfrm>
          <a:prstGeom prst="rect">
            <a:avLst/>
          </a:prstGeom>
          <a:noFill/>
        </p:spPr>
        <p:txBody>
          <a:bodyPr wrap="square" anchor="ctr">
            <a:spAutoFit/>
          </a:bodyPr>
          <a:lstStyle/>
          <a:p>
            <a:pPr algn="l">
              <a:lnSpc>
                <a:spcPct val="105000"/>
              </a:lnSpc>
              <a:spcBef>
                <a:spcPts val="0"/>
              </a:spcBef>
              <a:spcAft>
                <a:spcPts val="600"/>
              </a:spcAft>
            </a:pPr>
            <a:r>
              <a:rPr sz="1200" b="1">
                <a:solidFill>
                  <a:srgbClr val="FFFFFF"/>
                </a:solidFill>
                <a:latin typeface="Calibri"/>
              </a:rPr>
              <a:t>Agent</a:t>
            </a:r>
          </a:p>
        </p:txBody>
      </p:sp>
      <p:sp>
        <p:nvSpPr>
          <p:cNvPr id="8" name="TextBox 7"/>
          <p:cNvSpPr txBox="1"/>
          <p:nvPr/>
        </p:nvSpPr>
        <p:spPr>
          <a:xfrm>
            <a:off x="4251960" y="1399032"/>
            <a:ext cx="4480560" cy="329184"/>
          </a:xfrm>
          <a:prstGeom prst="rect">
            <a:avLst/>
          </a:prstGeom>
          <a:noFill/>
        </p:spPr>
        <p:txBody>
          <a:bodyPr wrap="square" anchor="ctr">
            <a:spAutoFit/>
          </a:bodyPr>
          <a:lstStyle/>
          <a:p>
            <a:pPr algn="l">
              <a:lnSpc>
                <a:spcPct val="105000"/>
              </a:lnSpc>
              <a:spcBef>
                <a:spcPts val="0"/>
              </a:spcBef>
              <a:spcAft>
                <a:spcPts val="600"/>
              </a:spcAft>
            </a:pPr>
            <a:r>
              <a:rPr sz="1200" b="1">
                <a:solidFill>
                  <a:srgbClr val="FFFFFF"/>
                </a:solidFill>
                <a:latin typeface="Calibri"/>
              </a:rPr>
              <a:t>What it does</a:t>
            </a:r>
          </a:p>
        </p:txBody>
      </p:sp>
      <p:sp>
        <p:nvSpPr>
          <p:cNvPr id="9" name="TextBox 8"/>
          <p:cNvSpPr txBox="1"/>
          <p:nvPr/>
        </p:nvSpPr>
        <p:spPr>
          <a:xfrm>
            <a:off x="8915400" y="1399032"/>
            <a:ext cx="2679192" cy="329184"/>
          </a:xfrm>
          <a:prstGeom prst="rect">
            <a:avLst/>
          </a:prstGeom>
          <a:noFill/>
        </p:spPr>
        <p:txBody>
          <a:bodyPr wrap="square" anchor="ctr">
            <a:spAutoFit/>
          </a:bodyPr>
          <a:lstStyle/>
          <a:p>
            <a:pPr algn="l">
              <a:lnSpc>
                <a:spcPct val="105000"/>
              </a:lnSpc>
              <a:spcBef>
                <a:spcPts val="0"/>
              </a:spcBef>
              <a:spcAft>
                <a:spcPts val="600"/>
              </a:spcAft>
            </a:pPr>
            <a:r>
              <a:rPr sz="1200" b="1">
                <a:solidFill>
                  <a:srgbClr val="FFFFFF"/>
                </a:solidFill>
                <a:latin typeface="Calibri"/>
              </a:rPr>
              <a:t>Primary persona</a:t>
            </a:r>
          </a:p>
        </p:txBody>
      </p:sp>
      <p:sp>
        <p:nvSpPr>
          <p:cNvPr id="10" name="Rectangle 9"/>
          <p:cNvSpPr/>
          <p:nvPr/>
        </p:nvSpPr>
        <p:spPr>
          <a:xfrm>
            <a:off x="548640" y="1755648"/>
            <a:ext cx="11091672"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55648"/>
            <a:ext cx="73152" cy="78638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55648"/>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Contract Inquiry</a:t>
            </a:r>
          </a:p>
        </p:txBody>
      </p:sp>
      <p:sp>
        <p:nvSpPr>
          <p:cNvPr id="13" name="TextBox 12"/>
          <p:cNvSpPr txBox="1"/>
          <p:nvPr/>
        </p:nvSpPr>
        <p:spPr>
          <a:xfrm>
            <a:off x="4160520" y="1755648"/>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Retrieve &amp; explain provider contracts, fee schedules, amendments</a:t>
            </a:r>
          </a:p>
        </p:txBody>
      </p:sp>
      <p:sp>
        <p:nvSpPr>
          <p:cNvPr id="14" name="TextBox 13"/>
          <p:cNvSpPr txBox="1"/>
          <p:nvPr/>
        </p:nvSpPr>
        <p:spPr>
          <a:xfrm>
            <a:off x="8823960" y="1755648"/>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Network / payer staff</a:t>
            </a:r>
          </a:p>
        </p:txBody>
      </p:sp>
      <p:sp>
        <p:nvSpPr>
          <p:cNvPr id="15" name="Rectangle 14"/>
          <p:cNvSpPr/>
          <p:nvPr/>
        </p:nvSpPr>
        <p:spPr>
          <a:xfrm>
            <a:off x="548640" y="2542032"/>
            <a:ext cx="11091672" cy="7863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542032"/>
            <a:ext cx="73152" cy="786384"/>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542032"/>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Enrollment Service Agent</a:t>
            </a:r>
          </a:p>
        </p:txBody>
      </p:sp>
      <p:sp>
        <p:nvSpPr>
          <p:cNvPr id="18" name="TextBox 17"/>
          <p:cNvSpPr txBox="1"/>
          <p:nvPr/>
        </p:nvSpPr>
        <p:spPr>
          <a:xfrm>
            <a:off x="4160520" y="2542032"/>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Self-service coverage changes — add/remove a dependent, case tracking</a:t>
            </a:r>
          </a:p>
        </p:txBody>
      </p:sp>
      <p:sp>
        <p:nvSpPr>
          <p:cNvPr id="19" name="TextBox 18"/>
          <p:cNvSpPr txBox="1"/>
          <p:nvPr/>
        </p:nvSpPr>
        <p:spPr>
          <a:xfrm>
            <a:off x="8823960" y="2542032"/>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Members (self-service)</a:t>
            </a:r>
          </a:p>
        </p:txBody>
      </p:sp>
      <p:sp>
        <p:nvSpPr>
          <p:cNvPr id="20" name="Rectangle 19"/>
          <p:cNvSpPr/>
          <p:nvPr/>
        </p:nvSpPr>
        <p:spPr>
          <a:xfrm>
            <a:off x="548640" y="3328416"/>
            <a:ext cx="11091672"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328416"/>
            <a:ext cx="73152" cy="78638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328416"/>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Search &amp; Profile Lookup</a:t>
            </a:r>
          </a:p>
        </p:txBody>
      </p:sp>
      <p:sp>
        <p:nvSpPr>
          <p:cNvPr id="23" name="TextBox 22"/>
          <p:cNvSpPr txBox="1"/>
          <p:nvPr/>
        </p:nvSpPr>
        <p:spPr>
          <a:xfrm>
            <a:off x="4160520" y="3328416"/>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360° provider profile: credentials, contracts, locations</a:t>
            </a:r>
          </a:p>
        </p:txBody>
      </p:sp>
      <p:sp>
        <p:nvSpPr>
          <p:cNvPr id="24" name="TextBox 23"/>
          <p:cNvSpPr txBox="1"/>
          <p:nvPr/>
        </p:nvSpPr>
        <p:spPr>
          <a:xfrm>
            <a:off x="8823960" y="3328416"/>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Service / contact-center</a:t>
            </a:r>
          </a:p>
        </p:txBody>
      </p:sp>
      <p:sp>
        <p:nvSpPr>
          <p:cNvPr id="25" name="Rectangle 24"/>
          <p:cNvSpPr/>
          <p:nvPr/>
        </p:nvSpPr>
        <p:spPr>
          <a:xfrm>
            <a:off x="548640" y="4114800"/>
            <a:ext cx="11091672" cy="7863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114800"/>
            <a:ext cx="73152" cy="786384"/>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114800"/>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Network Inquiries</a:t>
            </a:r>
          </a:p>
        </p:txBody>
      </p:sp>
      <p:sp>
        <p:nvSpPr>
          <p:cNvPr id="28" name="TextBox 27"/>
          <p:cNvSpPr txBox="1"/>
          <p:nvPr/>
        </p:nvSpPr>
        <p:spPr>
          <a:xfrm>
            <a:off x="4160520" y="4114800"/>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Verify providers, answer network questions, escalate</a:t>
            </a:r>
          </a:p>
        </p:txBody>
      </p:sp>
      <p:sp>
        <p:nvSpPr>
          <p:cNvPr id="29" name="TextBox 28"/>
          <p:cNvSpPr txBox="1"/>
          <p:nvPr/>
        </p:nvSpPr>
        <p:spPr>
          <a:xfrm>
            <a:off x="8823960" y="4114800"/>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Providers (self-service)</a:t>
            </a:r>
          </a:p>
        </p:txBody>
      </p:sp>
      <p:sp>
        <p:nvSpPr>
          <p:cNvPr id="30" name="Rectangle 29"/>
          <p:cNvSpPr/>
          <p:nvPr/>
        </p:nvSpPr>
        <p:spPr>
          <a:xfrm>
            <a:off x="548640" y="4901184"/>
            <a:ext cx="11091672"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901184"/>
            <a:ext cx="73152" cy="78638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901184"/>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Employer Group Support</a:t>
            </a:r>
          </a:p>
        </p:txBody>
      </p:sp>
      <p:sp>
        <p:nvSpPr>
          <p:cNvPr id="33" name="TextBox 32"/>
          <p:cNvSpPr txBox="1"/>
          <p:nvPr/>
        </p:nvSpPr>
        <p:spPr>
          <a:xfrm>
            <a:off x="4160520" y="4901184"/>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Verified employer inquiries — policies, participants, coverages</a:t>
            </a:r>
          </a:p>
        </p:txBody>
      </p:sp>
      <p:sp>
        <p:nvSpPr>
          <p:cNvPr id="34" name="TextBox 33"/>
          <p:cNvSpPr txBox="1"/>
          <p:nvPr/>
        </p:nvSpPr>
        <p:spPr>
          <a:xfrm>
            <a:off x="8823960" y="4901184"/>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Employer HR / benefits admins</a:t>
            </a:r>
          </a:p>
        </p:txBody>
      </p:sp>
      <p:sp>
        <p:nvSpPr>
          <p:cNvPr id="35" name="Rectangle 34"/>
          <p:cNvSpPr/>
          <p:nvPr/>
        </p:nvSpPr>
        <p:spPr>
          <a:xfrm>
            <a:off x="548640" y="5687568"/>
            <a:ext cx="11091672" cy="7863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5687568"/>
            <a:ext cx="73152" cy="786384"/>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687568"/>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Enrollment</a:t>
            </a:r>
          </a:p>
        </p:txBody>
      </p:sp>
      <p:sp>
        <p:nvSpPr>
          <p:cNvPr id="38" name="TextBox 37"/>
          <p:cNvSpPr txBox="1"/>
          <p:nvPr/>
        </p:nvSpPr>
        <p:spPr>
          <a:xfrm>
            <a:off x="4160520" y="5687568"/>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Guided onboarding that creates enrollment records</a:t>
            </a:r>
          </a:p>
        </p:txBody>
      </p:sp>
      <p:sp>
        <p:nvSpPr>
          <p:cNvPr id="39" name="TextBox 38"/>
          <p:cNvSpPr txBox="1"/>
          <p:nvPr/>
        </p:nvSpPr>
        <p:spPr>
          <a:xfrm>
            <a:off x="8823960" y="5687568"/>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Onboarding / enrollment</a:t>
            </a:r>
          </a:p>
        </p:txBody>
      </p:sp>
      <p:sp>
        <p:nvSpPr>
          <p:cNvPr id="40" name="TextBox 39"/>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41" name="TextBox 40"/>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TWELVE AGENTS, ACROSS THE PAYER OPERATION</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The portfolio at a glance (2 of 2)</a:t>
            </a:r>
          </a:p>
        </p:txBody>
      </p:sp>
      <p:sp>
        <p:nvSpPr>
          <p:cNvPr id="6" name="Rectangle 5"/>
          <p:cNvSpPr/>
          <p:nvPr/>
        </p:nvSpPr>
        <p:spPr>
          <a:xfrm>
            <a:off x="548640" y="1371600"/>
            <a:ext cx="11091672" cy="384048"/>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99032"/>
            <a:ext cx="3383280" cy="329184"/>
          </a:xfrm>
          <a:prstGeom prst="rect">
            <a:avLst/>
          </a:prstGeom>
          <a:noFill/>
        </p:spPr>
        <p:txBody>
          <a:bodyPr wrap="square" anchor="ctr">
            <a:spAutoFit/>
          </a:bodyPr>
          <a:lstStyle/>
          <a:p>
            <a:pPr algn="l">
              <a:lnSpc>
                <a:spcPct val="105000"/>
              </a:lnSpc>
              <a:spcBef>
                <a:spcPts val="0"/>
              </a:spcBef>
              <a:spcAft>
                <a:spcPts val="600"/>
              </a:spcAft>
            </a:pPr>
            <a:r>
              <a:rPr sz="1200" b="1">
                <a:solidFill>
                  <a:srgbClr val="FFFFFF"/>
                </a:solidFill>
                <a:latin typeface="Calibri"/>
              </a:rPr>
              <a:t>Agent</a:t>
            </a:r>
          </a:p>
        </p:txBody>
      </p:sp>
      <p:sp>
        <p:nvSpPr>
          <p:cNvPr id="8" name="TextBox 7"/>
          <p:cNvSpPr txBox="1"/>
          <p:nvPr/>
        </p:nvSpPr>
        <p:spPr>
          <a:xfrm>
            <a:off x="4251960" y="1399032"/>
            <a:ext cx="4480560" cy="329184"/>
          </a:xfrm>
          <a:prstGeom prst="rect">
            <a:avLst/>
          </a:prstGeom>
          <a:noFill/>
        </p:spPr>
        <p:txBody>
          <a:bodyPr wrap="square" anchor="ctr">
            <a:spAutoFit/>
          </a:bodyPr>
          <a:lstStyle/>
          <a:p>
            <a:pPr algn="l">
              <a:lnSpc>
                <a:spcPct val="105000"/>
              </a:lnSpc>
              <a:spcBef>
                <a:spcPts val="0"/>
              </a:spcBef>
              <a:spcAft>
                <a:spcPts val="600"/>
              </a:spcAft>
            </a:pPr>
            <a:r>
              <a:rPr sz="1200" b="1">
                <a:solidFill>
                  <a:srgbClr val="FFFFFF"/>
                </a:solidFill>
                <a:latin typeface="Calibri"/>
              </a:rPr>
              <a:t>What it does</a:t>
            </a:r>
          </a:p>
        </p:txBody>
      </p:sp>
      <p:sp>
        <p:nvSpPr>
          <p:cNvPr id="9" name="TextBox 8"/>
          <p:cNvSpPr txBox="1"/>
          <p:nvPr/>
        </p:nvSpPr>
        <p:spPr>
          <a:xfrm>
            <a:off x="8915400" y="1399032"/>
            <a:ext cx="2679192" cy="329184"/>
          </a:xfrm>
          <a:prstGeom prst="rect">
            <a:avLst/>
          </a:prstGeom>
          <a:noFill/>
        </p:spPr>
        <p:txBody>
          <a:bodyPr wrap="square" anchor="ctr">
            <a:spAutoFit/>
          </a:bodyPr>
          <a:lstStyle/>
          <a:p>
            <a:pPr algn="l">
              <a:lnSpc>
                <a:spcPct val="105000"/>
              </a:lnSpc>
              <a:spcBef>
                <a:spcPts val="0"/>
              </a:spcBef>
              <a:spcAft>
                <a:spcPts val="600"/>
              </a:spcAft>
            </a:pPr>
            <a:r>
              <a:rPr sz="1200" b="1">
                <a:solidFill>
                  <a:srgbClr val="FFFFFF"/>
                </a:solidFill>
                <a:latin typeface="Calibri"/>
              </a:rPr>
              <a:t>Primary persona</a:t>
            </a:r>
          </a:p>
        </p:txBody>
      </p:sp>
      <p:sp>
        <p:nvSpPr>
          <p:cNvPr id="10" name="Rectangle 9"/>
          <p:cNvSpPr/>
          <p:nvPr/>
        </p:nvSpPr>
        <p:spPr>
          <a:xfrm>
            <a:off x="548640" y="1755648"/>
            <a:ext cx="11091672"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55648"/>
            <a:ext cx="73152" cy="78638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55648"/>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Credentialing Status</a:t>
            </a:r>
          </a:p>
        </p:txBody>
      </p:sp>
      <p:sp>
        <p:nvSpPr>
          <p:cNvPr id="13" name="TextBox 12"/>
          <p:cNvSpPr txBox="1"/>
          <p:nvPr/>
        </p:nvSpPr>
        <p:spPr>
          <a:xfrm>
            <a:off x="4160520" y="1755648"/>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Summarize credentialing cases, explain status, flag missing documents</a:t>
            </a:r>
          </a:p>
        </p:txBody>
      </p:sp>
      <p:sp>
        <p:nvSpPr>
          <p:cNvPr id="14" name="TextBox 13"/>
          <p:cNvSpPr txBox="1"/>
          <p:nvPr/>
        </p:nvSpPr>
        <p:spPr>
          <a:xfrm>
            <a:off x="8823960" y="1755648"/>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Credentialing / provider services staff</a:t>
            </a:r>
          </a:p>
        </p:txBody>
      </p:sp>
      <p:sp>
        <p:nvSpPr>
          <p:cNvPr id="15" name="Rectangle 14"/>
          <p:cNvSpPr/>
          <p:nvPr/>
        </p:nvSpPr>
        <p:spPr>
          <a:xfrm>
            <a:off x="548640" y="2542032"/>
            <a:ext cx="11091672" cy="7863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542032"/>
            <a:ext cx="73152" cy="786384"/>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542032"/>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Network Participation Verification</a:t>
            </a:r>
          </a:p>
        </p:txBody>
      </p:sp>
      <p:sp>
        <p:nvSpPr>
          <p:cNvPr id="18" name="TextBox 17"/>
          <p:cNvSpPr txBox="1"/>
          <p:nvPr/>
        </p:nvSpPr>
        <p:spPr>
          <a:xfrm>
            <a:off x="4160520" y="2542032"/>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Verify a provider's network participation by name &amp; NPI</a:t>
            </a:r>
          </a:p>
        </p:txBody>
      </p:sp>
      <p:sp>
        <p:nvSpPr>
          <p:cNvPr id="19" name="TextBox 18"/>
          <p:cNvSpPr txBox="1"/>
          <p:nvPr/>
        </p:nvSpPr>
        <p:spPr>
          <a:xfrm>
            <a:off x="8823960" y="2542032"/>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Network ops / provider relations staff</a:t>
            </a:r>
          </a:p>
        </p:txBody>
      </p:sp>
      <p:sp>
        <p:nvSpPr>
          <p:cNvPr id="20" name="Rectangle 19"/>
          <p:cNvSpPr/>
          <p:nvPr/>
        </p:nvSpPr>
        <p:spPr>
          <a:xfrm>
            <a:off x="548640" y="3328416"/>
            <a:ext cx="11091672"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328416"/>
            <a:ext cx="73152" cy="78638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328416"/>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Claims Assistance</a:t>
            </a:r>
          </a:p>
        </p:txBody>
      </p:sp>
      <p:sp>
        <p:nvSpPr>
          <p:cNvPr id="23" name="TextBox 22"/>
          <p:cNvSpPr txBox="1"/>
          <p:nvPr/>
        </p:nvSpPr>
        <p:spPr>
          <a:xfrm>
            <a:off x="4160520" y="3328416"/>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Look up a provider claim's status, dates, and amounts</a:t>
            </a:r>
          </a:p>
        </p:txBody>
      </p:sp>
      <p:sp>
        <p:nvSpPr>
          <p:cNvPr id="24" name="TextBox 23"/>
          <p:cNvSpPr txBox="1"/>
          <p:nvPr/>
        </p:nvSpPr>
        <p:spPr>
          <a:xfrm>
            <a:off x="8823960" y="3328416"/>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Providers (self-service)</a:t>
            </a:r>
          </a:p>
        </p:txBody>
      </p:sp>
      <p:sp>
        <p:nvSpPr>
          <p:cNvPr id="25" name="Rectangle 24"/>
          <p:cNvSpPr/>
          <p:nvPr/>
        </p:nvSpPr>
        <p:spPr>
          <a:xfrm>
            <a:off x="548640" y="4114800"/>
            <a:ext cx="11091672" cy="7863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114800"/>
            <a:ext cx="73152" cy="786384"/>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114800"/>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Issue Management</a:t>
            </a:r>
          </a:p>
        </p:txBody>
      </p:sp>
      <p:sp>
        <p:nvSpPr>
          <p:cNvPr id="28" name="TextBox 27"/>
          <p:cNvSpPr txBox="1"/>
          <p:nvPr/>
        </p:nvSpPr>
        <p:spPr>
          <a:xfrm>
            <a:off x="4160520" y="4114800"/>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Classify a provider's issue and recommend a resolution path</a:t>
            </a:r>
          </a:p>
        </p:txBody>
      </p:sp>
      <p:sp>
        <p:nvSpPr>
          <p:cNvPr id="29" name="TextBox 28"/>
          <p:cNvSpPr txBox="1"/>
          <p:nvPr/>
        </p:nvSpPr>
        <p:spPr>
          <a:xfrm>
            <a:off x="8823960" y="4114800"/>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Providers (self-service)</a:t>
            </a:r>
          </a:p>
        </p:txBody>
      </p:sp>
      <p:sp>
        <p:nvSpPr>
          <p:cNvPr id="30" name="Rectangle 29"/>
          <p:cNvSpPr/>
          <p:nvPr/>
        </p:nvSpPr>
        <p:spPr>
          <a:xfrm>
            <a:off x="548640" y="4901184"/>
            <a:ext cx="11091672"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901184"/>
            <a:ext cx="73152" cy="78638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901184"/>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Provider Termination</a:t>
            </a:r>
          </a:p>
        </p:txBody>
      </p:sp>
      <p:sp>
        <p:nvSpPr>
          <p:cNvPr id="33" name="TextBox 32"/>
          <p:cNvSpPr txBox="1"/>
          <p:nvPr/>
        </p:nvSpPr>
        <p:spPr>
          <a:xfrm>
            <a:off x="4160520" y="4901184"/>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Review impact and submit a provider termination request</a:t>
            </a:r>
          </a:p>
        </p:txBody>
      </p:sp>
      <p:sp>
        <p:nvSpPr>
          <p:cNvPr id="34" name="TextBox 33"/>
          <p:cNvSpPr txBox="1"/>
          <p:nvPr/>
        </p:nvSpPr>
        <p:spPr>
          <a:xfrm>
            <a:off x="8823960" y="4901184"/>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Network operations staff</a:t>
            </a:r>
          </a:p>
        </p:txBody>
      </p:sp>
      <p:sp>
        <p:nvSpPr>
          <p:cNvPr id="40" name="TextBox 39"/>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41" name="TextBox 40"/>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3</a:t>
            </a:r>
          </a:p>
        </p:txBody>
      </p:sp>
      <p:sp>
        <p:nvSpPr>
          <p:cNvPr id="35" name="Rectangle 34"/>
          <p:cNvSpPr/>
          <p:nvPr/>
        </p:nvSpPr>
        <p:spPr>
          <a:xfrm>
            <a:off x="548640" y="5687568"/>
            <a:ext cx="11091672" cy="7863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5687568"/>
            <a:ext cx="73152" cy="786384"/>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687568"/>
            <a:ext cx="3429000" cy="786384"/>
          </a:xfrm>
          <a:prstGeom prst="rect">
            <a:avLst/>
          </a:prstGeom>
          <a:noFill/>
        </p:spPr>
        <p:txBody>
          <a:bodyPr wrap="square" anchor="ctr">
            <a:spAutoFit/>
          </a:bodyPr>
          <a:lstStyle/>
          <a:p>
            <a:pPr algn="l">
              <a:lnSpc>
                <a:spcPct val="105000"/>
              </a:lnSpc>
              <a:spcBef>
                <a:spcPts val="0"/>
              </a:spcBef>
              <a:spcAft>
                <a:spcPts val="600"/>
              </a:spcAft>
            </a:pPr>
            <a:r>
              <a:rPr sz="1300" b="1">
                <a:solidFill>
                  <a:srgbClr val="032D60"/>
                </a:solidFill>
                <a:latin typeface="Calibri"/>
              </a:rPr>
              <a:t>Member Benefits and Eligibility</a:t>
            </a:r>
          </a:p>
        </p:txBody>
      </p:sp>
      <p:sp>
        <p:nvSpPr>
          <p:cNvPr id="38" name="TextBox 37"/>
          <p:cNvSpPr txBox="1"/>
          <p:nvPr/>
        </p:nvSpPr>
        <p:spPr>
          <a:xfrm>
            <a:off x="4160520" y="5687568"/>
            <a:ext cx="45720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444B54"/>
                </a:solidFill>
                <a:latin typeface="Calibri"/>
              </a:rPr>
              <a:t>Verify member identity and answer benefits, coverage, and claims questions — messaging and voice</a:t>
            </a:r>
          </a:p>
        </p:txBody>
      </p:sp>
      <p:sp>
        <p:nvSpPr>
          <p:cNvPr id="39" name="TextBox 38"/>
          <p:cNvSpPr txBox="1"/>
          <p:nvPr/>
        </p:nvSpPr>
        <p:spPr>
          <a:xfrm>
            <a:off x="8823960" y="5687568"/>
            <a:ext cx="2743200" cy="786384"/>
          </a:xfrm>
          <a:prstGeom prst="rect">
            <a:avLst/>
          </a:prstGeom>
          <a:noFill/>
        </p:spPr>
        <p:txBody>
          <a:bodyPr wrap="square" anchor="ctr">
            <a:spAutoFit/>
          </a:bodyPr>
          <a:lstStyle/>
          <a:p>
            <a:pPr algn="l">
              <a:lnSpc>
                <a:spcPct val="105000"/>
              </a:lnSpc>
              <a:spcBef>
                <a:spcPts val="0"/>
              </a:spcBef>
              <a:spcAft>
                <a:spcPts val="600"/>
              </a:spcAft>
            </a:pPr>
            <a:r>
              <a:rPr sz="1200" b="0">
                <a:solidFill>
                  <a:srgbClr val="1A1D21"/>
                </a:solidFill>
                <a:latin typeface="Calibri"/>
              </a:rPr>
              <a:t>Members (self-service, messaging &amp; voice)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 COMMON, GOVERNED PATTERN</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How every agent works</a:t>
            </a:r>
          </a:p>
        </p:txBody>
      </p:sp>
      <p:sp>
        <p:nvSpPr>
          <p:cNvPr id="6" name="Rectangle 5"/>
          <p:cNvSpPr/>
          <p:nvPr/>
        </p:nvSpPr>
        <p:spPr>
          <a:xfrm>
            <a:off x="548640" y="1737360"/>
            <a:ext cx="26883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2688336" cy="640080"/>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47088"/>
            <a:ext cx="2322576" cy="457200"/>
          </a:xfrm>
          <a:prstGeom prst="rect">
            <a:avLst/>
          </a:prstGeom>
          <a:noFill/>
        </p:spPr>
        <p:txBody>
          <a:bodyPr wrap="square" anchor="ctr">
            <a:spAutoFit/>
          </a:bodyPr>
          <a:lstStyle/>
          <a:p>
            <a:pPr algn="l">
              <a:lnSpc>
                <a:spcPct val="105000"/>
              </a:lnSpc>
              <a:spcBef>
                <a:spcPts val="0"/>
              </a:spcBef>
              <a:spcAft>
                <a:spcPts val="600"/>
              </a:spcAft>
            </a:pPr>
            <a:r>
              <a:rPr sz="1500" b="1">
                <a:solidFill>
                  <a:srgbClr val="FFFFFF"/>
                </a:solidFill>
                <a:latin typeface="Calibri"/>
              </a:rPr>
              <a:t>1  User request</a:t>
            </a:r>
          </a:p>
        </p:txBody>
      </p:sp>
      <p:sp>
        <p:nvSpPr>
          <p:cNvPr id="9" name="TextBox 8"/>
          <p:cNvSpPr txBox="1"/>
          <p:nvPr/>
        </p:nvSpPr>
        <p:spPr>
          <a:xfrm>
            <a:off x="731520" y="2560320"/>
            <a:ext cx="2322576" cy="1554480"/>
          </a:xfrm>
          <a:prstGeom prst="rect">
            <a:avLst/>
          </a:prstGeom>
          <a:noFill/>
        </p:spPr>
        <p:txBody>
          <a:bodyPr wrap="square" anchor="t">
            <a:spAutoFit/>
          </a:bodyPr>
          <a:lstStyle/>
          <a:p>
            <a:pPr algn="l">
              <a:lnSpc>
                <a:spcPct val="115000"/>
              </a:lnSpc>
              <a:spcBef>
                <a:spcPts val="0"/>
              </a:spcBef>
              <a:spcAft>
                <a:spcPts val="600"/>
              </a:spcAft>
            </a:pPr>
            <a:r>
              <a:rPr sz="1300" b="0">
                <a:solidFill>
                  <a:srgbClr val="444B54"/>
                </a:solidFill>
                <a:latin typeface="Calibri"/>
              </a:rPr>
              <a:t>A staff member or provider asks in natural language via chat or messaging.</a:t>
            </a:r>
          </a:p>
        </p:txBody>
      </p:sp>
      <p:sp>
        <p:nvSpPr>
          <p:cNvPr id="10" name="TextBox 9"/>
          <p:cNvSpPr txBox="1"/>
          <p:nvPr/>
        </p:nvSpPr>
        <p:spPr>
          <a:xfrm>
            <a:off x="3218688" y="2606040"/>
            <a:ext cx="182880" cy="457200"/>
          </a:xfrm>
          <a:prstGeom prst="rect">
            <a:avLst/>
          </a:prstGeom>
          <a:noFill/>
        </p:spPr>
        <p:txBody>
          <a:bodyPr wrap="square" anchor="t">
            <a:spAutoFit/>
          </a:bodyPr>
          <a:lstStyle/>
          <a:p>
            <a:pPr algn="ctr">
              <a:lnSpc>
                <a:spcPct val="105000"/>
              </a:lnSpc>
              <a:spcBef>
                <a:spcPts val="0"/>
              </a:spcBef>
              <a:spcAft>
                <a:spcPts val="600"/>
              </a:spcAft>
            </a:pPr>
            <a:r>
              <a:rPr sz="2600" b="1">
                <a:solidFill>
                  <a:srgbClr val="D8DDE3"/>
                </a:solidFill>
                <a:latin typeface="Calibri"/>
              </a:rPr>
              <a:t>›</a:t>
            </a:r>
          </a:p>
        </p:txBody>
      </p:sp>
      <p:sp>
        <p:nvSpPr>
          <p:cNvPr id="11" name="Rectangle 10"/>
          <p:cNvSpPr/>
          <p:nvPr/>
        </p:nvSpPr>
        <p:spPr>
          <a:xfrm>
            <a:off x="3383280" y="1737360"/>
            <a:ext cx="26883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737360"/>
            <a:ext cx="2688336" cy="64008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847088"/>
            <a:ext cx="2322576" cy="457200"/>
          </a:xfrm>
          <a:prstGeom prst="rect">
            <a:avLst/>
          </a:prstGeom>
          <a:noFill/>
        </p:spPr>
        <p:txBody>
          <a:bodyPr wrap="square" anchor="ctr">
            <a:spAutoFit/>
          </a:bodyPr>
          <a:lstStyle/>
          <a:p>
            <a:pPr algn="l">
              <a:lnSpc>
                <a:spcPct val="105000"/>
              </a:lnSpc>
              <a:spcBef>
                <a:spcPts val="0"/>
              </a:spcBef>
              <a:spcAft>
                <a:spcPts val="600"/>
              </a:spcAft>
            </a:pPr>
            <a:r>
              <a:rPr sz="1500" b="1">
                <a:solidFill>
                  <a:srgbClr val="FFFFFF"/>
                </a:solidFill>
                <a:latin typeface="Calibri"/>
              </a:rPr>
              <a:t>2  Intelligent routing</a:t>
            </a:r>
          </a:p>
        </p:txBody>
      </p:sp>
      <p:sp>
        <p:nvSpPr>
          <p:cNvPr id="14" name="TextBox 13"/>
          <p:cNvSpPr txBox="1"/>
          <p:nvPr/>
        </p:nvSpPr>
        <p:spPr>
          <a:xfrm>
            <a:off x="3566160" y="2560320"/>
            <a:ext cx="2322576" cy="1554480"/>
          </a:xfrm>
          <a:prstGeom prst="rect">
            <a:avLst/>
          </a:prstGeom>
          <a:noFill/>
        </p:spPr>
        <p:txBody>
          <a:bodyPr wrap="square" anchor="t">
            <a:spAutoFit/>
          </a:bodyPr>
          <a:lstStyle/>
          <a:p>
            <a:pPr algn="l">
              <a:lnSpc>
                <a:spcPct val="115000"/>
              </a:lnSpc>
              <a:spcBef>
                <a:spcPts val="0"/>
              </a:spcBef>
              <a:spcAft>
                <a:spcPts val="600"/>
              </a:spcAft>
            </a:pPr>
            <a:r>
              <a:rPr sz="1300" b="0">
                <a:solidFill>
                  <a:srgbClr val="444B54"/>
                </a:solidFill>
                <a:latin typeface="Calibri"/>
              </a:rPr>
              <a:t>A router classifies intent (Einstein Hyper Classifier) and picks the right subagent.</a:t>
            </a:r>
          </a:p>
        </p:txBody>
      </p:sp>
      <p:sp>
        <p:nvSpPr>
          <p:cNvPr id="15" name="TextBox 14"/>
          <p:cNvSpPr txBox="1"/>
          <p:nvPr/>
        </p:nvSpPr>
        <p:spPr>
          <a:xfrm>
            <a:off x="6053328" y="2606040"/>
            <a:ext cx="182880" cy="457200"/>
          </a:xfrm>
          <a:prstGeom prst="rect">
            <a:avLst/>
          </a:prstGeom>
          <a:noFill/>
        </p:spPr>
        <p:txBody>
          <a:bodyPr wrap="square" anchor="t">
            <a:spAutoFit/>
          </a:bodyPr>
          <a:lstStyle/>
          <a:p>
            <a:pPr algn="ctr">
              <a:lnSpc>
                <a:spcPct val="105000"/>
              </a:lnSpc>
              <a:spcBef>
                <a:spcPts val="0"/>
              </a:spcBef>
              <a:spcAft>
                <a:spcPts val="600"/>
              </a:spcAft>
            </a:pPr>
            <a:r>
              <a:rPr sz="2600" b="1">
                <a:solidFill>
                  <a:srgbClr val="D8DDE3"/>
                </a:solidFill>
                <a:latin typeface="Calibri"/>
              </a:rPr>
              <a:t>›</a:t>
            </a:r>
          </a:p>
        </p:txBody>
      </p:sp>
      <p:sp>
        <p:nvSpPr>
          <p:cNvPr id="16" name="Rectangle 15"/>
          <p:cNvSpPr/>
          <p:nvPr/>
        </p:nvSpPr>
        <p:spPr>
          <a:xfrm>
            <a:off x="6217920" y="1737360"/>
            <a:ext cx="26883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737360"/>
            <a:ext cx="2688336" cy="64008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847088"/>
            <a:ext cx="2322576" cy="457200"/>
          </a:xfrm>
          <a:prstGeom prst="rect">
            <a:avLst/>
          </a:prstGeom>
          <a:noFill/>
        </p:spPr>
        <p:txBody>
          <a:bodyPr wrap="square" anchor="ctr">
            <a:spAutoFit/>
          </a:bodyPr>
          <a:lstStyle/>
          <a:p>
            <a:pPr algn="l">
              <a:lnSpc>
                <a:spcPct val="105000"/>
              </a:lnSpc>
              <a:spcBef>
                <a:spcPts val="0"/>
              </a:spcBef>
              <a:spcAft>
                <a:spcPts val="600"/>
              </a:spcAft>
            </a:pPr>
            <a:r>
              <a:rPr sz="1500" b="1">
                <a:solidFill>
                  <a:srgbClr val="FFFFFF"/>
                </a:solidFill>
                <a:latin typeface="Calibri"/>
              </a:rPr>
              <a:t>3  Trusted action</a:t>
            </a:r>
          </a:p>
        </p:txBody>
      </p:sp>
      <p:sp>
        <p:nvSpPr>
          <p:cNvPr id="19" name="TextBox 18"/>
          <p:cNvSpPr txBox="1"/>
          <p:nvPr/>
        </p:nvSpPr>
        <p:spPr>
          <a:xfrm>
            <a:off x="6400800" y="2560320"/>
            <a:ext cx="2322576" cy="1554480"/>
          </a:xfrm>
          <a:prstGeom prst="rect">
            <a:avLst/>
          </a:prstGeom>
          <a:noFill/>
        </p:spPr>
        <p:txBody>
          <a:bodyPr wrap="square" anchor="t">
            <a:spAutoFit/>
          </a:bodyPr>
          <a:lstStyle/>
          <a:p>
            <a:pPr algn="l">
              <a:lnSpc>
                <a:spcPct val="115000"/>
              </a:lnSpc>
              <a:spcBef>
                <a:spcPts val="0"/>
              </a:spcBef>
              <a:spcAft>
                <a:spcPts val="600"/>
              </a:spcAft>
            </a:pPr>
            <a:r>
              <a:rPr sz="1300" b="0">
                <a:solidFill>
                  <a:srgbClr val="444B54"/>
                </a:solidFill>
                <a:latin typeface="Calibri"/>
              </a:rPr>
              <a:t>The subagent calls Salesforce Flows or Apex to read/write governed provider data.</a:t>
            </a:r>
          </a:p>
        </p:txBody>
      </p:sp>
      <p:sp>
        <p:nvSpPr>
          <p:cNvPr id="20" name="TextBox 19"/>
          <p:cNvSpPr txBox="1"/>
          <p:nvPr/>
        </p:nvSpPr>
        <p:spPr>
          <a:xfrm>
            <a:off x="8887968" y="2606040"/>
            <a:ext cx="182880" cy="457200"/>
          </a:xfrm>
          <a:prstGeom prst="rect">
            <a:avLst/>
          </a:prstGeom>
          <a:noFill/>
        </p:spPr>
        <p:txBody>
          <a:bodyPr wrap="square" anchor="t">
            <a:spAutoFit/>
          </a:bodyPr>
          <a:lstStyle/>
          <a:p>
            <a:pPr algn="ctr">
              <a:lnSpc>
                <a:spcPct val="105000"/>
              </a:lnSpc>
              <a:spcBef>
                <a:spcPts val="0"/>
              </a:spcBef>
              <a:spcAft>
                <a:spcPts val="600"/>
              </a:spcAft>
            </a:pPr>
            <a:r>
              <a:rPr sz="2600" b="1">
                <a:solidFill>
                  <a:srgbClr val="D8DDE3"/>
                </a:solidFill>
                <a:latin typeface="Calibri"/>
              </a:rPr>
              <a:t>›</a:t>
            </a:r>
          </a:p>
        </p:txBody>
      </p:sp>
      <p:sp>
        <p:nvSpPr>
          <p:cNvPr id="21" name="Rectangle 20"/>
          <p:cNvSpPr/>
          <p:nvPr/>
        </p:nvSpPr>
        <p:spPr>
          <a:xfrm>
            <a:off x="9052560" y="1737360"/>
            <a:ext cx="2688336" cy="24688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737360"/>
            <a:ext cx="2688336" cy="640080"/>
          </a:xfrm>
          <a:prstGeom prst="rect">
            <a:avLst/>
          </a:prstGeom>
          <a:solidFill>
            <a:srgbClr val="B860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847088"/>
            <a:ext cx="2322576" cy="457200"/>
          </a:xfrm>
          <a:prstGeom prst="rect">
            <a:avLst/>
          </a:prstGeom>
          <a:noFill/>
        </p:spPr>
        <p:txBody>
          <a:bodyPr wrap="square" anchor="ctr">
            <a:spAutoFit/>
          </a:bodyPr>
          <a:lstStyle/>
          <a:p>
            <a:pPr algn="l">
              <a:lnSpc>
                <a:spcPct val="105000"/>
              </a:lnSpc>
              <a:spcBef>
                <a:spcPts val="0"/>
              </a:spcBef>
              <a:spcAft>
                <a:spcPts val="600"/>
              </a:spcAft>
            </a:pPr>
            <a:r>
              <a:rPr sz="1500" b="1">
                <a:solidFill>
                  <a:srgbClr val="FFFFFF"/>
                </a:solidFill>
                <a:latin typeface="Calibri"/>
              </a:rPr>
              <a:t>4  Clear answer</a:t>
            </a:r>
          </a:p>
        </p:txBody>
      </p:sp>
      <p:sp>
        <p:nvSpPr>
          <p:cNvPr id="24" name="TextBox 23"/>
          <p:cNvSpPr txBox="1"/>
          <p:nvPr/>
        </p:nvSpPr>
        <p:spPr>
          <a:xfrm>
            <a:off x="9235440" y="2560320"/>
            <a:ext cx="2322576" cy="1554480"/>
          </a:xfrm>
          <a:prstGeom prst="rect">
            <a:avLst/>
          </a:prstGeom>
          <a:noFill/>
        </p:spPr>
        <p:txBody>
          <a:bodyPr wrap="square" anchor="t">
            <a:spAutoFit/>
          </a:bodyPr>
          <a:lstStyle/>
          <a:p>
            <a:pPr algn="l">
              <a:lnSpc>
                <a:spcPct val="115000"/>
              </a:lnSpc>
              <a:spcBef>
                <a:spcPts val="0"/>
              </a:spcBef>
              <a:spcAft>
                <a:spcPts val="600"/>
              </a:spcAft>
            </a:pPr>
            <a:r>
              <a:rPr sz="1300" b="0">
                <a:solidFill>
                  <a:srgbClr val="444B54"/>
                </a:solidFill>
                <a:latin typeface="Calibri"/>
              </a:rPr>
              <a:t>Results are summarized in plain language — with approvals, audit, or escalation as needed.</a:t>
            </a:r>
          </a:p>
        </p:txBody>
      </p:sp>
      <p:sp>
        <p:nvSpPr>
          <p:cNvPr id="25" name="TextBox 24"/>
          <p:cNvSpPr txBox="1"/>
          <p:nvPr/>
        </p:nvSpPr>
        <p:spPr>
          <a:xfrm>
            <a:off x="548640" y="4663440"/>
            <a:ext cx="11064240" cy="1280160"/>
          </a:xfrm>
          <a:prstGeom prst="rect">
            <a:avLst/>
          </a:prstGeom>
          <a:noFill/>
        </p:spPr>
        <p:txBody>
          <a:bodyPr wrap="square" anchor="t">
            <a:spAutoFit/>
          </a:bodyPr>
          <a:lstStyle/>
          <a:p>
            <a:pPr algn="l">
              <a:lnSpc>
                <a:spcPct val="115000"/>
              </a:lnSpc>
              <a:spcBef>
                <a:spcPts val="0"/>
              </a:spcBef>
              <a:spcAft>
                <a:spcPts val="600"/>
              </a:spcAft>
            </a:pPr>
            <a:r>
              <a:rPr sz="1500" b="1">
                <a:solidFill>
                  <a:srgbClr val="032D60"/>
                </a:solidFill>
                <a:latin typeface="Calibri"/>
              </a:rPr>
              <a:t>Built on Salesforce &amp; shared by design</a:t>
            </a:r>
          </a:p>
          <a:p>
            <a:pPr algn="l">
              <a:lnSpc>
                <a:spcPct val="115000"/>
              </a:lnSpc>
              <a:spcBef>
                <a:spcPts val="0"/>
              </a:spcBef>
              <a:spcAft>
                <a:spcPts val="600"/>
              </a:spcAft>
            </a:pPr>
            <a:r>
              <a:rPr sz="1300" b="0">
                <a:solidFill>
                  <a:srgbClr val="444B54"/>
                </a:solidFill>
                <a:latin typeface="Calibri"/>
              </a:rPr>
              <a:t>Agents reuse a common data model — HealthcareProvider, Credential, Contract, Provider Network — and are packaged as self-contained bundles with their own permission set groups, so each can be deployed and governed independently while sharing one source of truth.</a:t>
            </a:r>
          </a:p>
        </p:txBody>
      </p:sp>
      <p:sp>
        <p:nvSpPr>
          <p:cNvPr id="26" name="TextBox 25"/>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27" name="TextBox 26"/>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Contract Inquiry Agent</a:t>
            </a:r>
          </a:p>
        </p:txBody>
      </p:sp>
      <p:sp>
        <p:nvSpPr>
          <p:cNvPr id="6" name="Rounded Rectangle 5"/>
          <p:cNvSpPr/>
          <p:nvPr/>
        </p:nvSpPr>
        <p:spPr>
          <a:xfrm>
            <a:off x="548640" y="1298448"/>
            <a:ext cx="2011680" cy="310896"/>
          </a:xfrm>
          <a:prstGeom prst="round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Employee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Instantly retrieve and explain a provider's contract by contract number, provider name, or NPI.</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Provider-network / payer staff — contract managers and network operations analysts.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within the Salesforce console — used by contract &amp; network ops staff during business hours.</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Contract details </a:t>
            </a:r>
            <a:r>
              <a:rPr sz="1300" b="0">
                <a:solidFill>
                  <a:srgbClr val="444B54"/>
                </a:solidFill>
                <a:latin typeface="Calibri"/>
              </a:rPr>
              <a:t>— effective &amp; expiration dates, status, renewal insights</a:t>
            </a:r>
          </a:p>
          <a:p>
            <a:pPr>
              <a:lnSpc>
                <a:spcPct val="103000"/>
              </a:lnSpc>
              <a:spcAft>
                <a:spcPts val="800"/>
              </a:spcAft>
            </a:pPr>
            <a:r>
              <a:rPr sz="1300" b="1">
                <a:solidFill>
                  <a:srgbClr val="1A1D21"/>
                </a:solidFill>
                <a:latin typeface="Calibri"/>
              </a:rPr>
              <a:t>▪  Network participation </a:t>
            </a:r>
            <a:r>
              <a:rPr sz="1300" b="0">
                <a:solidFill>
                  <a:srgbClr val="444B54"/>
                </a:solidFill>
                <a:latin typeface="Calibri"/>
              </a:rPr>
              <a:t>— which networks a provider belongs to</a:t>
            </a:r>
          </a:p>
          <a:p>
            <a:pPr>
              <a:lnSpc>
                <a:spcPct val="103000"/>
              </a:lnSpc>
              <a:spcAft>
                <a:spcPts val="800"/>
              </a:spcAft>
            </a:pPr>
            <a:r>
              <a:rPr sz="1300" b="1">
                <a:solidFill>
                  <a:srgbClr val="1A1D21"/>
                </a:solidFill>
                <a:latin typeface="Calibri"/>
              </a:rPr>
              <a:t>▪  Fee schedules </a:t>
            </a:r>
            <a:r>
              <a:rPr sz="1300" b="0">
                <a:solidFill>
                  <a:srgbClr val="444B54"/>
                </a:solidFill>
                <a:latin typeface="Calibri"/>
              </a:rPr>
              <a:t>— reimbursement rates and rate types</a:t>
            </a:r>
          </a:p>
          <a:p>
            <a:pPr>
              <a:lnSpc>
                <a:spcPct val="103000"/>
              </a:lnSpc>
              <a:spcAft>
                <a:spcPts val="800"/>
              </a:spcAft>
            </a:pPr>
            <a:r>
              <a:rPr sz="1300" b="1">
                <a:solidFill>
                  <a:srgbClr val="1A1D21"/>
                </a:solidFill>
                <a:latin typeface="Calibri"/>
              </a:rPr>
              <a:t>▪  Amendment history </a:t>
            </a:r>
            <a:r>
              <a:rPr sz="1300" b="0">
                <a:solidFill>
                  <a:srgbClr val="444B54"/>
                </a:solidFill>
                <a:latin typeface="Calibri"/>
              </a:rPr>
              <a:t>— summarized changes over the contract's life</a:t>
            </a:r>
          </a:p>
          <a:p>
            <a:pPr>
              <a:lnSpc>
                <a:spcPct val="103000"/>
              </a:lnSpc>
              <a:spcAft>
                <a:spcPts val="800"/>
              </a:spcAft>
            </a:pPr>
            <a:r>
              <a:rPr sz="1300" b="1">
                <a:solidFill>
                  <a:srgbClr val="1A1D21"/>
                </a:solidFill>
                <a:latin typeface="Calibri"/>
              </a:rPr>
              <a:t>▪  Plain-language summaries </a:t>
            </a:r>
            <a:r>
              <a:rPr sz="1300" b="0">
                <a:solidFill>
                  <a:srgbClr val="444B54"/>
                </a:solidFill>
                <a:latin typeface="Calibri"/>
              </a:rPr>
              <a:t>— clean, business-friendly formatting</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Cuts contract lookup</a:t>
            </a:r>
            <a:r>
              <a:rPr sz="1300" b="0">
                <a:solidFill>
                  <a:srgbClr val="444B54"/>
                </a:solidFill>
                <a:latin typeface="Calibri"/>
              </a:rPr>
              <a:t> from minutes of searching to a single question</a:t>
            </a:r>
          </a:p>
          <a:p>
            <a:pPr>
              <a:lnSpc>
                <a:spcPct val="103000"/>
              </a:lnSpc>
              <a:spcAft>
                <a:spcPts val="800"/>
              </a:spcAft>
            </a:pPr>
            <a:r>
              <a:rPr sz="1300" b="1">
                <a:solidFill>
                  <a:srgbClr val="1A1D21"/>
                </a:solidFill>
                <a:latin typeface="Calibri"/>
              </a:rPr>
              <a:t>▪  Consistent answers</a:t>
            </a:r>
            <a:r>
              <a:rPr sz="1300" b="0">
                <a:solidFill>
                  <a:srgbClr val="444B54"/>
                </a:solidFill>
                <a:latin typeface="Calibri"/>
              </a:rPr>
              <a:t> — the same trusted format every time</a:t>
            </a:r>
          </a:p>
          <a:p>
            <a:pPr>
              <a:lnSpc>
                <a:spcPct val="103000"/>
              </a:lnSpc>
              <a:spcAft>
                <a:spcPts val="800"/>
              </a:spcAft>
            </a:pPr>
            <a:r>
              <a:rPr sz="1300" b="1">
                <a:solidFill>
                  <a:srgbClr val="1A1D21"/>
                </a:solidFill>
                <a:latin typeface="Calibri"/>
              </a:rPr>
              <a:t>▪  Fewer errors</a:t>
            </a:r>
            <a:r>
              <a:rPr sz="1300" b="0">
                <a:solidFill>
                  <a:srgbClr val="444B54"/>
                </a:solidFill>
                <a:latin typeface="Calibri"/>
              </a:rPr>
              <a:t> when reviewing complex agreements</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INQUIRIES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5</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Rep:  </a:t>
            </a:r>
            <a:r>
              <a:rPr b="0" sz="1000">
                <a:solidFill>
                  <a:srgbClr val="444B54"/>
                </a:solidFill>
                <a:latin typeface="Calibri"/>
              </a:rPr>
              <a:t>“What's the fee schedule on contract C-10452?”</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“Active through 12/31/26 — here are the allowed amounts by CPT code.” Resolved in ~1 min vs. ~9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9 min</a:t>
                      </a:r>
                    </a:p>
                  </a:txBody>
                  <a:tcPr marL="45720" marR="45720" marT="18288" marB="18288" anchor="ctr">
                    <a:solidFill>
                      <a:srgbClr val="FFFFFF"/>
                    </a:solidFill>
                  </a:tcPr>
                </a:tc>
                <a:tc>
                  <a:txBody>
                    <a:bodyPr wrap="square"/>
                    <a:lstStyle/>
                    <a:p>
                      <a:r>
                        <a:rPr b="0" sz="1100">
                          <a:solidFill>
                            <a:srgbClr val="1A1D21"/>
                          </a:solidFill>
                          <a:latin typeface="Calibri"/>
                        </a:rPr>
                        <a:t>1 min</a:t>
                      </a:r>
                    </a:p>
                  </a:txBody>
                  <a:tcPr marL="45720" marR="45720" marT="18288" marB="18288" anchor="ctr">
                    <a:solidFill>
                      <a:srgbClr val="FFFFFF"/>
                    </a:solidFill>
                  </a:tcPr>
                </a:tc>
                <a:tc>
                  <a:txBody>
                    <a:bodyPr wrap="square"/>
                    <a:lstStyle/>
                    <a:p>
                      <a:r>
                        <a:rPr b="1" sz="1100">
                          <a:solidFill>
                            <a:srgbClr val="04844B"/>
                          </a:solidFill>
                          <a:latin typeface="Calibri"/>
                        </a:rPr>
                        <a:t>13.3 hrs (89%)</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Enrollment Service Agent</a:t>
            </a:r>
          </a:p>
        </p:txBody>
      </p:sp>
      <p:sp>
        <p:nvSpPr>
          <p:cNvPr id="6" name="Rounded Rectangle 5"/>
          <p:cNvSpPr/>
          <p:nvPr/>
        </p:nvSpPr>
        <p:spPr>
          <a:xfrm>
            <a:off x="548640" y="1298448"/>
            <a:ext cx="2011680" cy="310896"/>
          </a:xfrm>
          <a:prstGeom prst="round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Member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Lets members self-serve routine coverage changes — like adding or removing a dependent — over chat or voice, without waiting on a phone queue.</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Health plan members requesting a coverage change; escalates to a live agent on request, logging a case as a fallback.</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&amp; voice, member self-service — available 24/7, escalates to a live agent when needed.</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Bef>
                <a:spcPts val="0"/>
              </a:spcBef>
              <a:spcAft>
                <a:spcPts val="800"/>
              </a:spcAft>
            </a:pPr>
            <a:r>
              <a:rPr b="1" sz="1300">
                <a:solidFill>
                  <a:srgbClr val="1A1D21"/>
                </a:solidFill>
                <a:latin typeface="Calibri"/>
              </a:rPr>
              <a:t>▪  Coverage Change requests </a:t>
            </a:r>
            <a:r>
              <a:rPr b="0" sz="1300">
                <a:solidFill>
                  <a:srgbClr val="444B54"/>
                </a:solidFill>
                <a:latin typeface="Calibri"/>
              </a:rPr>
              <a:t>— add or remove a dependent via guided conversation</a:t>
            </a:r>
          </a:p>
          <a:p>
            <a:pPr>
              <a:lnSpc>
                <a:spcPct val="103000"/>
              </a:lnSpc>
              <a:spcBef>
                <a:spcPts val="0"/>
              </a:spcBef>
              <a:spcAft>
                <a:spcPts val="800"/>
              </a:spcAft>
            </a:pPr>
            <a:r>
              <a:rPr b="1" sz="1300">
                <a:solidFill>
                  <a:srgbClr val="1A1D21"/>
                </a:solidFill>
                <a:latin typeface="Calibri"/>
              </a:rPr>
              <a:t>▪  Structured intake </a:t>
            </a:r>
            <a:r>
              <a:rPr b="0" sz="1300">
                <a:solidFill>
                  <a:srgbClr val="444B54"/>
                </a:solidFill>
                <a:latin typeface="Calibri"/>
              </a:rPr>
              <a:t>— Account Name, Dependent Name/Gender/DOB, Relation, Effective Date</a:t>
            </a:r>
          </a:p>
          <a:p>
            <a:pPr>
              <a:lnSpc>
                <a:spcPct val="103000"/>
              </a:lnSpc>
              <a:spcBef>
                <a:spcPts val="0"/>
              </a:spcBef>
              <a:spcAft>
                <a:spcPts val="800"/>
              </a:spcAft>
            </a:pPr>
            <a:r>
              <a:rPr b="1" sz="1300">
                <a:solidFill>
                  <a:srgbClr val="1A1D21"/>
                </a:solidFill>
                <a:latin typeface="Calibri"/>
              </a:rPr>
              <a:t>▪  Case creation </a:t>
            </a:r>
            <a:r>
              <a:rPr b="0" sz="1300">
                <a:solidFill>
                  <a:srgbClr val="444B54"/>
                </a:solidFill>
                <a:latin typeface="Calibri"/>
              </a:rPr>
              <a:t>— opens a Case and returns a trackable 5-digit Issue Id</a:t>
            </a:r>
          </a:p>
          <a:p>
            <a:pPr>
              <a:lnSpc>
                <a:spcPct val="103000"/>
              </a:lnSpc>
              <a:spcBef>
                <a:spcPts val="0"/>
              </a:spcBef>
              <a:spcAft>
                <a:spcPts val="800"/>
              </a:spcAft>
            </a:pPr>
            <a:r>
              <a:rPr b="1" sz="1300">
                <a:solidFill>
                  <a:srgbClr val="1A1D21"/>
                </a:solidFill>
                <a:latin typeface="Calibri"/>
              </a:rPr>
              <a:t>▪  Case Tracker </a:t>
            </a:r>
            <a:r>
              <a:rPr b="0" sz="1300">
                <a:solidFill>
                  <a:srgbClr val="444B54"/>
                </a:solidFill>
                <a:latin typeface="Calibri"/>
              </a:rPr>
              <a:t>— members can check status anytime using their Issue Id</a:t>
            </a:r>
          </a:p>
          <a:p>
            <a:pPr>
              <a:lnSpc>
                <a:spcPct val="103000"/>
              </a:lnSpc>
              <a:spcBef>
                <a:spcPts val="0"/>
              </a:spcBef>
              <a:spcAft>
                <a:spcPts val="800"/>
              </a:spcAft>
            </a:pPr>
            <a:r>
              <a:rPr b="1" sz="1300">
                <a:solidFill>
                  <a:srgbClr val="1A1D21"/>
                </a:solidFill>
                <a:latin typeface="Calibri"/>
              </a:rPr>
              <a:t>▪  Live-agent escalation </a:t>
            </a:r>
            <a:r>
              <a:rPr b="0" sz="1300">
                <a:solidFill>
                  <a:srgbClr val="444B54"/>
                </a:solidFill>
                <a:latin typeface="Calibri"/>
              </a:rPr>
              <a:t>— hands off to a person on request, with case logging as a fallback</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Bef>
                <a:spcPts val="0"/>
              </a:spcBef>
              <a:spcAft>
                <a:spcPts val="800"/>
              </a:spcAft>
            </a:pPr>
            <a:r>
              <a:rPr b="1" sz="1300">
                <a:solidFill>
                  <a:srgbClr val="1A1D21"/>
                </a:solidFill>
                <a:latin typeface="Calibri"/>
              </a:rPr>
              <a:t>▪  Deflects routine calls </a:t>
            </a:r>
            <a:r>
              <a:rPr b="0" sz="1300">
                <a:solidFill>
                  <a:srgbClr val="444B54"/>
                </a:solidFill>
                <a:latin typeface="Calibri"/>
              </a:rPr>
              <a:t>from the member service queue — no hold times, available 24/7</a:t>
            </a:r>
          </a:p>
          <a:p>
            <a:pPr>
              <a:lnSpc>
                <a:spcPct val="103000"/>
              </a:lnSpc>
              <a:spcBef>
                <a:spcPts val="0"/>
              </a:spcBef>
              <a:spcAft>
                <a:spcPts val="800"/>
              </a:spcAft>
            </a:pPr>
            <a:r>
              <a:rPr b="1" sz="1300">
                <a:solidFill>
                  <a:srgbClr val="1A1D21"/>
                </a:solidFill>
                <a:latin typeface="Calibri"/>
              </a:rPr>
              <a:t>▪  Faster resolution </a:t>
            </a:r>
            <a:r>
              <a:rPr b="0" sz="1300">
                <a:solidFill>
                  <a:srgbClr val="444B54"/>
                </a:solidFill>
                <a:latin typeface="Calibri"/>
              </a:rPr>
              <a:t>— a trackable Issue Id replaces "call back for status"</a:t>
            </a:r>
          </a:p>
          <a:p>
            <a:pPr>
              <a:lnSpc>
                <a:spcPct val="103000"/>
              </a:lnSpc>
              <a:spcBef>
                <a:spcPts val="0"/>
              </a:spcBef>
              <a:spcAft>
                <a:spcPts val="800"/>
              </a:spcAft>
            </a:pPr>
            <a:r>
              <a:rPr b="1" sz="1300">
                <a:solidFill>
                  <a:srgbClr val="1A1D21"/>
                </a:solidFill>
                <a:latin typeface="Calibri"/>
              </a:rPr>
              <a:t>▪  Structured intake </a:t>
            </a:r>
            <a:r>
              <a:rPr b="0" sz="1300">
                <a:solidFill>
                  <a:srgbClr val="444B54"/>
                </a:solidFill>
                <a:latin typeface="Calibri"/>
              </a:rPr>
              <a:t>reduces data-entry errors and rework for staff</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REQUESTS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6</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Member:  </a:t>
            </a:r>
            <a:r>
              <a:rPr b="0" sz="1000">
                <a:solidFill>
                  <a:srgbClr val="444B54"/>
                </a:solidFill>
                <a:latin typeface="Calibri"/>
              </a:rPr>
              <a:t>“I need to add my spouse to my plan.”</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“I just need her name, DOB, and effective date — here's your tracking Issue Id.” Resolved in ~4 min vs. ~14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14 min</a:t>
                      </a:r>
                    </a:p>
                  </a:txBody>
                  <a:tcPr marL="45720" marR="45720" marT="18288" marB="18288" anchor="ctr">
                    <a:solidFill>
                      <a:srgbClr val="FFFFFF"/>
                    </a:solidFill>
                  </a:tcPr>
                </a:tc>
                <a:tc>
                  <a:txBody>
                    <a:bodyPr wrap="square"/>
                    <a:lstStyle/>
                    <a:p>
                      <a:r>
                        <a:rPr b="0" sz="1100">
                          <a:solidFill>
                            <a:srgbClr val="1A1D21"/>
                          </a:solidFill>
                          <a:latin typeface="Calibri"/>
                        </a:rPr>
                        <a:t>4 min</a:t>
                      </a:r>
                    </a:p>
                  </a:txBody>
                  <a:tcPr marL="45720" marR="45720" marT="18288" marB="18288" anchor="ctr">
                    <a:solidFill>
                      <a:srgbClr val="FFFFFF"/>
                    </a:solidFill>
                  </a:tcPr>
                </a:tc>
                <a:tc>
                  <a:txBody>
                    <a:bodyPr wrap="square"/>
                    <a:lstStyle/>
                    <a:p>
                      <a:r>
                        <a:rPr b="1" sz="1100">
                          <a:solidFill>
                            <a:srgbClr val="04844B"/>
                          </a:solidFill>
                          <a:latin typeface="Calibri"/>
                        </a:rPr>
                        <a:t>16.7 hrs (71%)</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Search &amp; Profile Lookup Agent</a:t>
            </a:r>
          </a:p>
        </p:txBody>
      </p:sp>
      <p:sp>
        <p:nvSpPr>
          <p:cNvPr id="6" name="Rounded Rectangle 5"/>
          <p:cNvSpPr/>
          <p:nvPr/>
        </p:nvSpPr>
        <p:spPr>
          <a:xfrm>
            <a:off x="548640" y="1298448"/>
            <a:ext cx="2011680" cy="310896"/>
          </a:xfrm>
          <a:prstGeom prst="round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Service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A 360° provider profile in seconds — credentials, contracts, networks, locations, and compliance.</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Service / contact-center agents and network staff handling provider cases.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within the service console — used by contact-center &amp; network staff during business hours.</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Search </a:t>
            </a:r>
            <a:r>
              <a:rPr sz="1300" b="0">
                <a:solidFill>
                  <a:srgbClr val="444B54"/>
                </a:solidFill>
                <a:latin typeface="Calibri"/>
              </a:rPr>
              <a:t>a provider by name or NPI</a:t>
            </a:r>
          </a:p>
          <a:p>
            <a:pPr>
              <a:lnSpc>
                <a:spcPct val="103000"/>
              </a:lnSpc>
              <a:spcAft>
                <a:spcPts val="800"/>
              </a:spcAft>
            </a:pPr>
            <a:r>
              <a:rPr sz="1300" b="1">
                <a:solidFill>
                  <a:srgbClr val="1A1D21"/>
                </a:solidFill>
                <a:latin typeface="Calibri"/>
              </a:rPr>
              <a:t>▪  Credentials </a:t>
            </a:r>
            <a:r>
              <a:rPr sz="1300" b="0">
                <a:solidFill>
                  <a:srgbClr val="444B54"/>
                </a:solidFill>
                <a:latin typeface="Calibri"/>
              </a:rPr>
              <a:t>— licenses and certifications</a:t>
            </a:r>
          </a:p>
          <a:p>
            <a:pPr>
              <a:lnSpc>
                <a:spcPct val="103000"/>
              </a:lnSpc>
              <a:spcAft>
                <a:spcPts val="800"/>
              </a:spcAft>
            </a:pPr>
            <a:r>
              <a:rPr sz="1300" b="1">
                <a:solidFill>
                  <a:srgbClr val="1A1D21"/>
                </a:solidFill>
                <a:latin typeface="Calibri"/>
              </a:rPr>
              <a:t>▪  Active contracts </a:t>
            </a:r>
            <a:r>
              <a:rPr sz="1300" b="0">
                <a:solidFill>
                  <a:srgbClr val="444B54"/>
                </a:solidFill>
                <a:latin typeface="Calibri"/>
              </a:rPr>
              <a:t>and network participation</a:t>
            </a:r>
          </a:p>
          <a:p>
            <a:pPr>
              <a:lnSpc>
                <a:spcPct val="103000"/>
              </a:lnSpc>
              <a:spcAft>
                <a:spcPts val="800"/>
              </a:spcAft>
            </a:pPr>
            <a:r>
              <a:rPr sz="1300" b="1">
                <a:solidFill>
                  <a:srgbClr val="1A1D21"/>
                </a:solidFill>
                <a:latin typeface="Calibri"/>
              </a:rPr>
              <a:t>▪  Service locations </a:t>
            </a:r>
            <a:r>
              <a:rPr sz="1300" b="0">
                <a:solidFill>
                  <a:srgbClr val="444B54"/>
                </a:solidFill>
                <a:latin typeface="Calibri"/>
              </a:rPr>
              <a:t>— where the provider practices</a:t>
            </a:r>
          </a:p>
          <a:p>
            <a:pPr>
              <a:lnSpc>
                <a:spcPct val="103000"/>
              </a:lnSpc>
              <a:spcAft>
                <a:spcPts val="800"/>
              </a:spcAft>
            </a:pPr>
            <a:r>
              <a:rPr sz="1300" b="1">
                <a:solidFill>
                  <a:srgbClr val="1A1D21"/>
                </a:solidFill>
                <a:latin typeface="Calibri"/>
              </a:rPr>
              <a:t>▪  Compliance issues </a:t>
            </a:r>
            <a:r>
              <a:rPr sz="1300" b="0">
                <a:solidFill>
                  <a:srgbClr val="444B54"/>
                </a:solidFill>
                <a:latin typeface="Calibri"/>
              </a:rPr>
              <a:t>— open flags on the provider</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Faster case handling</a:t>
            </a:r>
            <a:r>
              <a:rPr sz="1300" b="0">
                <a:solidFill>
                  <a:srgbClr val="444B54"/>
                </a:solidFill>
                <a:latin typeface="Calibri"/>
              </a:rPr>
              <a:t> with everything in one place</a:t>
            </a:r>
          </a:p>
          <a:p>
            <a:pPr>
              <a:lnSpc>
                <a:spcPct val="103000"/>
              </a:lnSpc>
              <a:spcAft>
                <a:spcPts val="800"/>
              </a:spcAft>
            </a:pPr>
            <a:r>
              <a:rPr sz="1300" b="1">
                <a:solidFill>
                  <a:srgbClr val="1A1D21"/>
                </a:solidFill>
                <a:latin typeface="Calibri"/>
              </a:rPr>
              <a:t>▪  Single source of truth</a:t>
            </a:r>
            <a:r>
              <a:rPr sz="1300" b="0">
                <a:solidFill>
                  <a:srgbClr val="444B54"/>
                </a:solidFill>
                <a:latin typeface="Calibri"/>
              </a:rPr>
              <a:t> across teams</a:t>
            </a:r>
          </a:p>
          <a:p>
            <a:pPr>
              <a:lnSpc>
                <a:spcPct val="103000"/>
              </a:lnSpc>
              <a:spcAft>
                <a:spcPts val="800"/>
              </a:spcAft>
            </a:pPr>
            <a:r>
              <a:rPr sz="1300" b="1">
                <a:solidFill>
                  <a:srgbClr val="1A1D21"/>
                </a:solidFill>
                <a:latin typeface="Calibri"/>
              </a:rPr>
              <a:t>▪  Better provider &amp; member</a:t>
            </a:r>
            <a:r>
              <a:rPr sz="1300" b="0">
                <a:solidFill>
                  <a:srgbClr val="444B54"/>
                </a:solidFill>
                <a:latin typeface="Calibri"/>
              </a:rPr>
              <a:t> experience</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LOOKUPS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7</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Rep:  </a:t>
            </a:r>
            <a:r>
              <a:rPr b="0" sz="1000">
                <a:solidFill>
                  <a:srgbClr val="444B54"/>
                </a:solidFill>
                <a:latin typeface="Calibri"/>
              </a:rPr>
              <a:t>“Pull up Dr. Maria Chen's full profile.”</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“Active credentials, 3 networks, 2 locations, no open compliance flags.” Resolved in ~1.5 min vs. ~11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11 min</a:t>
                      </a:r>
                    </a:p>
                  </a:txBody>
                  <a:tcPr marL="45720" marR="45720" marT="18288" marB="18288" anchor="ctr">
                    <a:solidFill>
                      <a:srgbClr val="FFFFFF"/>
                    </a:solidFill>
                  </a:tcPr>
                </a:tc>
                <a:tc>
                  <a:txBody>
                    <a:bodyPr wrap="square"/>
                    <a:lstStyle/>
                    <a:p>
                      <a:r>
                        <a:rPr b="0" sz="1100">
                          <a:solidFill>
                            <a:srgbClr val="1A1D21"/>
                          </a:solidFill>
                          <a:latin typeface="Calibri"/>
                        </a:rPr>
                        <a:t>1.5 min</a:t>
                      </a:r>
                    </a:p>
                  </a:txBody>
                  <a:tcPr marL="45720" marR="45720" marT="18288" marB="18288" anchor="ctr">
                    <a:solidFill>
                      <a:srgbClr val="FFFFFF"/>
                    </a:solidFill>
                  </a:tcPr>
                </a:tc>
                <a:tc>
                  <a:txBody>
                    <a:bodyPr wrap="square"/>
                    <a:lstStyle/>
                    <a:p>
                      <a:r>
                        <a:rPr b="1" sz="1100">
                          <a:solidFill>
                            <a:srgbClr val="04844B"/>
                          </a:solidFill>
                          <a:latin typeface="Calibri"/>
                        </a:rPr>
                        <a:t>15.8 hrs (86%)</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Network Inquiries Agent</a:t>
            </a:r>
          </a:p>
        </p:txBody>
      </p:sp>
      <p:sp>
        <p:nvSpPr>
          <p:cNvPr id="6" name="Rounded Rectangle 5"/>
          <p:cNvSpPr/>
          <p:nvPr/>
        </p:nvSpPr>
        <p:spPr>
          <a:xfrm>
            <a:off x="548640" y="1298448"/>
            <a:ext cx="2011680" cy="310896"/>
          </a:xfrm>
          <a:prstGeom prst="round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Service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Answers provider network questions, verifies identity, and escalates to a person when needed.</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Providers contacting support through messaging; live service agents on escalation.</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&amp; messaging, provider self-service — available 24/7, escalates to a live agent when needed.</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Provider verification </a:t>
            </a:r>
            <a:r>
              <a:rPr sz="1300" b="0">
                <a:solidFill>
                  <a:srgbClr val="444B54"/>
                </a:solidFill>
                <a:latin typeface="Calibri"/>
              </a:rPr>
              <a:t>— match on name, NPI, or phone before sharing data</a:t>
            </a:r>
          </a:p>
          <a:p>
            <a:pPr>
              <a:lnSpc>
                <a:spcPct val="103000"/>
              </a:lnSpc>
              <a:spcAft>
                <a:spcPts val="800"/>
              </a:spcAft>
            </a:pPr>
            <a:r>
              <a:rPr sz="1300" b="1">
                <a:solidFill>
                  <a:srgbClr val="1A1D21"/>
                </a:solidFill>
                <a:latin typeface="Calibri"/>
              </a:rPr>
              <a:t>▪  Network &amp; fee inquiry </a:t>
            </a:r>
            <a:r>
              <a:rPr sz="1300" b="0">
                <a:solidFill>
                  <a:srgbClr val="444B54"/>
                </a:solidFill>
                <a:latin typeface="Calibri"/>
              </a:rPr>
              <a:t>— consolidated answer across provider, credentials, contracts, fees</a:t>
            </a:r>
          </a:p>
          <a:p>
            <a:pPr>
              <a:lnSpc>
                <a:spcPct val="103000"/>
              </a:lnSpc>
              <a:spcAft>
                <a:spcPts val="800"/>
              </a:spcAft>
            </a:pPr>
            <a:r>
              <a:rPr sz="1300" b="1">
                <a:solidFill>
                  <a:srgbClr val="1A1D21"/>
                </a:solidFill>
                <a:latin typeface="Calibri"/>
              </a:rPr>
              <a:t>▪  Live-agent routing </a:t>
            </a:r>
            <a:r>
              <a:rPr sz="1300" b="0">
                <a:solidFill>
                  <a:srgbClr val="444B54"/>
                </a:solidFill>
                <a:latin typeface="Calibri"/>
              </a:rPr>
              <a:t>— seamless handoff when the agent can't resolve</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Deflects routine inquiries</a:t>
            </a:r>
            <a:r>
              <a:rPr sz="1300" b="0">
                <a:solidFill>
                  <a:srgbClr val="444B54"/>
                </a:solidFill>
                <a:latin typeface="Calibri"/>
              </a:rPr>
              <a:t> from live queues</a:t>
            </a:r>
          </a:p>
          <a:p>
            <a:pPr>
              <a:lnSpc>
                <a:spcPct val="103000"/>
              </a:lnSpc>
              <a:spcAft>
                <a:spcPts val="800"/>
              </a:spcAft>
            </a:pPr>
            <a:r>
              <a:rPr sz="1300" b="1">
                <a:solidFill>
                  <a:srgbClr val="1A1D21"/>
                </a:solidFill>
                <a:latin typeface="Calibri"/>
              </a:rPr>
              <a:t>▪  Secures interactions</a:t>
            </a:r>
            <a:r>
              <a:rPr sz="1300" b="0">
                <a:solidFill>
                  <a:srgbClr val="444B54"/>
                </a:solidFill>
                <a:latin typeface="Calibri"/>
              </a:rPr>
              <a:t> through identity verification</a:t>
            </a:r>
          </a:p>
          <a:p>
            <a:pPr>
              <a:lnSpc>
                <a:spcPct val="103000"/>
              </a:lnSpc>
              <a:spcAft>
                <a:spcPts val="800"/>
              </a:spcAft>
            </a:pPr>
            <a:r>
              <a:rPr sz="1300" b="1">
                <a:solidFill>
                  <a:srgbClr val="1A1D21"/>
                </a:solidFill>
                <a:latin typeface="Calibri"/>
              </a:rPr>
              <a:t>▪  Smooth escalation</a:t>
            </a:r>
            <a:r>
              <a:rPr sz="1300" b="0">
                <a:solidFill>
                  <a:srgbClr val="444B54"/>
                </a:solidFill>
                <a:latin typeface="Calibri"/>
              </a:rPr>
              <a:t> to humans preserves context</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CALLS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8</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Provider:  </a:t>
            </a:r>
            <a:r>
              <a:rPr b="0" sz="1000">
                <a:solidFill>
                  <a:srgbClr val="444B54"/>
                </a:solidFill>
                <a:latin typeface="Calibri"/>
              </a:rPr>
              <a:t>“Is my NPI still active in the Gold network?”</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“Verified and confirmed — you're active in Gold Network through 2026.” Resolved in ~2 min vs. ~7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7 min</a:t>
                      </a:r>
                    </a:p>
                  </a:txBody>
                  <a:tcPr marL="45720" marR="45720" marT="18288" marB="18288" anchor="ctr">
                    <a:solidFill>
                      <a:srgbClr val="FFFFFF"/>
                    </a:solidFill>
                  </a:tcPr>
                </a:tc>
                <a:tc>
                  <a:txBody>
                    <a:bodyPr wrap="square"/>
                    <a:lstStyle/>
                    <a:p>
                      <a:r>
                        <a:rPr b="0" sz="1100">
                          <a:solidFill>
                            <a:srgbClr val="1A1D21"/>
                          </a:solidFill>
                          <a:latin typeface="Calibri"/>
                        </a:rPr>
                        <a:t>2 min</a:t>
                      </a:r>
                    </a:p>
                  </a:txBody>
                  <a:tcPr marL="45720" marR="45720" marT="18288" marB="18288" anchor="ctr">
                    <a:solidFill>
                      <a:srgbClr val="FFFFFF"/>
                    </a:solidFill>
                  </a:tcPr>
                </a:tc>
                <a:tc>
                  <a:txBody>
                    <a:bodyPr wrap="square"/>
                    <a:lstStyle/>
                    <a:p>
                      <a:r>
                        <a:rPr b="1" sz="1100">
                          <a:solidFill>
                            <a:srgbClr val="04844B"/>
                          </a:solidFill>
                          <a:latin typeface="Calibri"/>
                        </a:rPr>
                        <a:t>8.3 hrs (71%)</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Employer Group Support Agent</a:t>
            </a:r>
          </a:p>
        </p:txBody>
      </p:sp>
      <p:sp>
        <p:nvSpPr>
          <p:cNvPr id="6" name="Rounded Rectangle 5"/>
          <p:cNvSpPr/>
          <p:nvPr/>
        </p:nvSpPr>
        <p:spPr>
          <a:xfrm>
            <a:off x="548640" y="1298448"/>
            <a:ext cx="2011680" cy="310896"/>
          </a:xfrm>
          <a:prstGeom prst="round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Employer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Helps employer-group HR &amp; benefits administrators get verified answers on their policies, participants, and coverages.</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Employer groups' HR / benefits administrators calling about their company's plans; escalates to a live agent on request.</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&amp; voice, employer self-service — available 24/7, escalates to a live agent when needed.</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Bef>
                <a:spcPts val="0"/>
              </a:spcBef>
              <a:spcAft>
                <a:spcPts val="800"/>
              </a:spcAft>
            </a:pPr>
            <a:r>
              <a:rPr b="1" sz="1300">
                <a:solidFill>
                  <a:srgbClr val="1A1D21"/>
                </a:solidFill>
                <a:latin typeface="Calibri"/>
              </a:rPr>
              <a:t>▪  Employer verification </a:t>
            </a:r>
            <a:r>
              <a:rPr b="0" sz="1300">
                <a:solidFill>
                  <a:srgbClr val="444B54"/>
                </a:solidFill>
                <a:latin typeface="Calibri"/>
              </a:rPr>
              <a:t>— exact match on Employer Account Name + Account Number before disclosing data</a:t>
            </a:r>
          </a:p>
          <a:p>
            <a:pPr>
              <a:lnSpc>
                <a:spcPct val="103000"/>
              </a:lnSpc>
              <a:spcBef>
                <a:spcPts val="0"/>
              </a:spcBef>
              <a:spcAft>
                <a:spcPts val="800"/>
              </a:spcAft>
            </a:pPr>
            <a:r>
              <a:rPr b="1" sz="1300">
                <a:solidFill>
                  <a:srgbClr val="1A1D21"/>
                </a:solidFill>
                <a:latin typeface="Calibri"/>
              </a:rPr>
              <a:t>▪  Insurance Policies </a:t>
            </a:r>
            <a:r>
              <a:rPr b="0" sz="1300">
                <a:solidFill>
                  <a:srgbClr val="444B54"/>
                </a:solidFill>
                <a:latin typeface="Calibri"/>
              </a:rPr>
              <a:t>— summarized policy details tied to the employer's account</a:t>
            </a:r>
          </a:p>
          <a:p>
            <a:pPr>
              <a:lnSpc>
                <a:spcPct val="103000"/>
              </a:lnSpc>
              <a:spcBef>
                <a:spcPts val="0"/>
              </a:spcBef>
              <a:spcAft>
                <a:spcPts val="800"/>
              </a:spcAft>
            </a:pPr>
            <a:r>
              <a:rPr b="1" sz="1300">
                <a:solidFill>
                  <a:srgbClr val="1A1D21"/>
                </a:solidFill>
                <a:latin typeface="Calibri"/>
              </a:rPr>
              <a:t>▪  Policy Participants &amp; Coverages </a:t>
            </a:r>
            <a:r>
              <a:rPr b="0" sz="1300">
                <a:solidFill>
                  <a:srgbClr val="444B54"/>
                </a:solidFill>
                <a:latin typeface="Calibri"/>
              </a:rPr>
              <a:t>— who's covered and under what plan</a:t>
            </a:r>
          </a:p>
          <a:p>
            <a:pPr>
              <a:lnSpc>
                <a:spcPct val="103000"/>
              </a:lnSpc>
              <a:spcBef>
                <a:spcPts val="0"/>
              </a:spcBef>
              <a:spcAft>
                <a:spcPts val="800"/>
              </a:spcAft>
            </a:pPr>
            <a:r>
              <a:rPr b="1" sz="1300">
                <a:solidFill>
                  <a:srgbClr val="1A1D21"/>
                </a:solidFill>
                <a:latin typeface="Calibri"/>
              </a:rPr>
              <a:t>▪  Contacts &amp; Cases </a:t>
            </a:r>
            <a:r>
              <a:rPr b="0" sz="1300">
                <a:solidFill>
                  <a:srgbClr val="444B54"/>
                </a:solidFill>
                <a:latin typeface="Calibri"/>
              </a:rPr>
              <a:t>— related account contacts and open/past support cases</a:t>
            </a:r>
          </a:p>
          <a:p>
            <a:pPr>
              <a:lnSpc>
                <a:spcPct val="103000"/>
              </a:lnSpc>
              <a:spcBef>
                <a:spcPts val="0"/>
              </a:spcBef>
              <a:spcAft>
                <a:spcPts val="800"/>
              </a:spcAft>
            </a:pPr>
            <a:r>
              <a:rPr b="1" sz="1300">
                <a:solidFill>
                  <a:srgbClr val="1A1D21"/>
                </a:solidFill>
                <a:latin typeface="Calibri"/>
              </a:rPr>
              <a:t>▪  Live-agent escalation </a:t>
            </a:r>
            <a:r>
              <a:rPr b="0" sz="1300">
                <a:solidFill>
                  <a:srgbClr val="444B54"/>
                </a:solidFill>
                <a:latin typeface="Calibri"/>
              </a:rPr>
              <a:t>— hands off to a person on request, with case logging as a fallback</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Bef>
                <a:spcPts val="0"/>
              </a:spcBef>
              <a:spcAft>
                <a:spcPts val="800"/>
              </a:spcAft>
            </a:pPr>
            <a:r>
              <a:rPr b="1" sz="1300">
                <a:solidFill>
                  <a:srgbClr val="1A1D21"/>
                </a:solidFill>
                <a:latin typeface="Calibri"/>
              </a:rPr>
              <a:t>▪  Deflects routine employer-admin calls </a:t>
            </a:r>
            <a:r>
              <a:rPr b="0" sz="1300">
                <a:solidFill>
                  <a:srgbClr val="444B54"/>
                </a:solidFill>
                <a:latin typeface="Calibri"/>
              </a:rPr>
              <a:t>from the support queue</a:t>
            </a:r>
          </a:p>
          <a:p>
            <a:pPr>
              <a:lnSpc>
                <a:spcPct val="103000"/>
              </a:lnSpc>
              <a:spcBef>
                <a:spcPts val="0"/>
              </a:spcBef>
              <a:spcAft>
                <a:spcPts val="800"/>
              </a:spcAft>
            </a:pPr>
            <a:r>
              <a:rPr b="1" sz="1300">
                <a:solidFill>
                  <a:srgbClr val="1A1D21"/>
                </a:solidFill>
                <a:latin typeface="Calibri"/>
              </a:rPr>
              <a:t>▪  Verified access </a:t>
            </a:r>
            <a:r>
              <a:rPr b="0" sz="1300">
                <a:solidFill>
                  <a:srgbClr val="444B54"/>
                </a:solidFill>
                <a:latin typeface="Calibri"/>
              </a:rPr>
              <a:t>protects sensitive employer &amp; participant data</a:t>
            </a:r>
          </a:p>
          <a:p>
            <a:pPr>
              <a:lnSpc>
                <a:spcPct val="103000"/>
              </a:lnSpc>
              <a:spcBef>
                <a:spcPts val="0"/>
              </a:spcBef>
              <a:spcAft>
                <a:spcPts val="800"/>
              </a:spcAft>
            </a:pPr>
            <a:r>
              <a:rPr b="1" sz="1300">
                <a:solidFill>
                  <a:srgbClr val="1A1D21"/>
                </a:solidFill>
                <a:latin typeface="Calibri"/>
              </a:rPr>
              <a:t>▪  Faster resolution </a:t>
            </a:r>
            <a:r>
              <a:rPr b="0" sz="1300">
                <a:solidFill>
                  <a:srgbClr val="444B54"/>
                </a:solidFill>
                <a:latin typeface="Calibri"/>
              </a:rPr>
              <a:t>improves the employer-group experience</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CALLS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9</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HR Admin:  </a:t>
            </a:r>
            <a:r>
              <a:rPr b="0" sz="1000">
                <a:solidFill>
                  <a:srgbClr val="444B54"/>
                </a:solidFill>
                <a:latin typeface="Calibri"/>
              </a:rPr>
              <a:t>“How many employees are enrolled under our policy?”</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“After verifying your account — 214 active participants across 2 coverage tiers.” Resolved in ~4 min vs. ~16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16 min</a:t>
                      </a:r>
                    </a:p>
                  </a:txBody>
                  <a:tcPr marL="45720" marR="45720" marT="18288" marB="18288" anchor="ctr">
                    <a:solidFill>
                      <a:srgbClr val="FFFFFF"/>
                    </a:solidFill>
                  </a:tcPr>
                </a:tc>
                <a:tc>
                  <a:txBody>
                    <a:bodyPr wrap="square"/>
                    <a:lstStyle/>
                    <a:p>
                      <a:r>
                        <a:rPr b="0" sz="1100">
                          <a:solidFill>
                            <a:srgbClr val="1A1D21"/>
                          </a:solidFill>
                          <a:latin typeface="Calibri"/>
                        </a:rPr>
                        <a:t>4 min</a:t>
                      </a:r>
                    </a:p>
                  </a:txBody>
                  <a:tcPr marL="45720" marR="45720" marT="18288" marB="18288" anchor="ctr">
                    <a:solidFill>
                      <a:srgbClr val="FFFFFF"/>
                    </a:solidFill>
                  </a:tcPr>
                </a:tc>
                <a:tc>
                  <a:txBody>
                    <a:bodyPr wrap="square"/>
                    <a:lstStyle/>
                    <a:p>
                      <a:r>
                        <a:rPr b="1" sz="1100">
                          <a:solidFill>
                            <a:srgbClr val="04844B"/>
                          </a:solidFill>
                          <a:latin typeface="Calibri"/>
                        </a:rPr>
                        <a:t>20.0 hrs (75%)</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Enrollment Agent</a:t>
            </a:r>
          </a:p>
        </p:txBody>
      </p:sp>
      <p:sp>
        <p:nvSpPr>
          <p:cNvPr id="6" name="Rounded Rectangle 5"/>
          <p:cNvSpPr/>
          <p:nvPr/>
        </p:nvSpPr>
        <p:spPr>
          <a:xfrm>
            <a:off x="548640" y="1298448"/>
            <a:ext cx="2011680" cy="310896"/>
          </a:xfrm>
          <a:prstGeom prst="round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Onboarding</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Guided enrollment that captures a new provider and creates the record in one flow.</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Provider onboarding / enrollment staff processing new provider applications.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Guided chat + intake form — used by onboarding/enrollment staff during business hours.</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Guided demographics </a:t>
            </a:r>
            <a:r>
              <a:rPr sz="1300" b="0">
                <a:solidFill>
                  <a:srgbClr val="444B54"/>
                </a:solidFill>
                <a:latin typeface="Calibri"/>
              </a:rPr>
              <a:t>capture via a Lightning form</a:t>
            </a:r>
          </a:p>
          <a:p>
            <a:pPr>
              <a:lnSpc>
                <a:spcPct val="103000"/>
              </a:lnSpc>
              <a:spcAft>
                <a:spcPts val="800"/>
              </a:spcAft>
            </a:pPr>
            <a:r>
              <a:rPr sz="1300" b="1">
                <a:solidFill>
                  <a:srgbClr val="1A1D21"/>
                </a:solidFill>
                <a:latin typeface="Calibri"/>
              </a:rPr>
              <a:t>▪  Document upload </a:t>
            </a:r>
            <a:r>
              <a:rPr sz="1300" b="0">
                <a:solidFill>
                  <a:srgbClr val="444B54"/>
                </a:solidFill>
                <a:latin typeface="Calibri"/>
              </a:rPr>
              <a:t>attached to the application</a:t>
            </a:r>
          </a:p>
          <a:p>
            <a:pPr>
              <a:lnSpc>
                <a:spcPct val="103000"/>
              </a:lnSpc>
              <a:spcAft>
                <a:spcPts val="800"/>
              </a:spcAft>
            </a:pPr>
            <a:r>
              <a:rPr sz="1300" b="1">
                <a:solidFill>
                  <a:srgbClr val="1A1D21"/>
                </a:solidFill>
                <a:latin typeface="Calibri"/>
              </a:rPr>
              <a:t>▪  Automatic record creation </a:t>
            </a:r>
            <a:r>
              <a:rPr sz="1300" b="0">
                <a:solidFill>
                  <a:srgbClr val="444B54"/>
                </a:solidFill>
                <a:latin typeface="Calibri"/>
              </a:rPr>
              <a:t>— an Enrollment record is created and linked</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Faster provider onboarding</a:t>
            </a:r>
            <a:r>
              <a:rPr sz="1300" b="0">
                <a:solidFill>
                  <a:srgbClr val="444B54"/>
                </a:solidFill>
                <a:latin typeface="Calibri"/>
              </a:rPr>
              <a:t/>
            </a:r>
          </a:p>
          <a:p>
            <a:pPr>
              <a:lnSpc>
                <a:spcPct val="103000"/>
              </a:lnSpc>
              <a:spcAft>
                <a:spcPts val="800"/>
              </a:spcAft>
            </a:pPr>
            <a:r>
              <a:rPr sz="1300" b="1">
                <a:solidFill>
                  <a:srgbClr val="1A1D21"/>
                </a:solidFill>
                <a:latin typeface="Calibri"/>
              </a:rPr>
              <a:t>▪  Structured, complete</a:t>
            </a:r>
            <a:r>
              <a:rPr sz="1300" b="0">
                <a:solidFill>
                  <a:srgbClr val="444B54"/>
                </a:solidFill>
                <a:latin typeface="Calibri"/>
              </a:rPr>
              <a:t> applications — less back-and-forth</a:t>
            </a:r>
          </a:p>
          <a:p>
            <a:pPr>
              <a:lnSpc>
                <a:spcPct val="103000"/>
              </a:lnSpc>
              <a:spcAft>
                <a:spcPts val="800"/>
              </a:spcAft>
            </a:pPr>
            <a:r>
              <a:rPr sz="1300" b="1">
                <a:solidFill>
                  <a:srgbClr val="1A1D21"/>
                </a:solidFill>
                <a:latin typeface="Calibri"/>
              </a:rPr>
              <a:t>▪  Less rekeying</a:t>
            </a:r>
            <a:r>
              <a:rPr sz="1300" b="0">
                <a:solidFill>
                  <a:srgbClr val="444B54"/>
                </a:solidFill>
                <a:latin typeface="Calibri"/>
              </a:rPr>
              <a:t> and manual data entry</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APPLICATIONS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10</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Provider:  </a:t>
            </a:r>
            <a:r>
              <a:rPr b="0" sz="1000">
                <a:solidFill>
                  <a:srgbClr val="444B54"/>
                </a:solidFill>
                <a:latin typeface="Calibri"/>
              </a:rPr>
              <a:t>“I'd like to start my enrollment application.”</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“Let's get started — contact details, NPI, specialty, network, then upload your credentials.” Resolved in ~8 min vs. ~28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28 min</a:t>
                      </a:r>
                    </a:p>
                  </a:txBody>
                  <a:tcPr marL="45720" marR="45720" marT="18288" marB="18288" anchor="ctr">
                    <a:solidFill>
                      <a:srgbClr val="FFFFFF"/>
                    </a:solidFill>
                  </a:tcPr>
                </a:tc>
                <a:tc>
                  <a:txBody>
                    <a:bodyPr wrap="square"/>
                    <a:lstStyle/>
                    <a:p>
                      <a:r>
                        <a:rPr b="0" sz="1100">
                          <a:solidFill>
                            <a:srgbClr val="1A1D21"/>
                          </a:solidFill>
                          <a:latin typeface="Calibri"/>
                        </a:rPr>
                        <a:t>8 min</a:t>
                      </a:r>
                    </a:p>
                  </a:txBody>
                  <a:tcPr marL="45720" marR="45720" marT="18288" marB="18288" anchor="ctr">
                    <a:solidFill>
                      <a:srgbClr val="FFFFFF"/>
                    </a:solidFill>
                  </a:tcPr>
                </a:tc>
                <a:tc>
                  <a:txBody>
                    <a:bodyPr wrap="square"/>
                    <a:lstStyle/>
                    <a:p>
                      <a:r>
                        <a:rPr b="1" sz="1100">
                          <a:solidFill>
                            <a:srgbClr val="04844B"/>
                          </a:solidFill>
                          <a:latin typeface="Calibri"/>
                        </a:rPr>
                        <a:t>33.3 hrs (71%)</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Credentialing Status Agent</a:t>
            </a:r>
          </a:p>
        </p:txBody>
      </p:sp>
      <p:sp>
        <p:nvSpPr>
          <p:cNvPr id="6" name="Rounded Rectangle 5"/>
          <p:cNvSpPr/>
          <p:nvPr/>
        </p:nvSpPr>
        <p:spPr>
          <a:xfrm>
            <a:off x="548640" y="1298448"/>
            <a:ext cx="2011680" cy="310896"/>
          </a:xfrm>
          <a:prstGeom prst="round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Employee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Summarizes a provider's credentialing case, explains what it means, and flags what's still missing.</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Credentialing specialists, provider services reps, and provider relations reps working active credentialing cases.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within the Salesforce console — used by internal credentialing teams during case review.</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Case summarization </a:t>
            </a:r>
            <a:r>
              <a:rPr sz="1300" b="0">
                <a:solidFill>
                  <a:srgbClr val="444B54"/>
                </a:solidFill>
                <a:latin typeface="Calibri"/>
              </a:rPr>
              <a:t> — stage, status, dates, and provider details in one pass</a:t>
            </a:r>
          </a:p>
          <a:p>
            <a:pPr>
              <a:lnSpc>
                <a:spcPct val="103000"/>
              </a:lnSpc>
              <a:spcAft>
                <a:spcPts val="800"/>
              </a:spcAft>
            </a:pPr>
            <a:r>
              <a:rPr sz="1300" b="1">
                <a:solidFill>
                  <a:srgbClr val="1A1D21"/>
                </a:solidFill>
                <a:latin typeface="Calibri"/>
              </a:rPr>
              <a:t>▪  Plain-language status explanation </a:t>
            </a:r>
            <a:r>
              <a:rPr sz="1300" b="0">
                <a:solidFill>
                  <a:srgbClr val="444B54"/>
                </a:solidFill>
                <a:latin typeface="Calibri"/>
              </a:rPr>
              <a:t> — decodes Verification, Committee Review, Approved, Rejected</a:t>
            </a:r>
          </a:p>
          <a:p>
            <a:pPr>
              <a:lnSpc>
                <a:spcPct val="103000"/>
              </a:lnSpc>
              <a:spcAft>
                <a:spcPts val="800"/>
              </a:spcAft>
            </a:pPr>
            <a:r>
              <a:rPr sz="1300" b="1">
                <a:solidFill>
                  <a:srgbClr val="1A1D21"/>
                </a:solidFill>
                <a:latin typeface="Calibri"/>
              </a:rPr>
              <a:t>▪  Missing document detection </a:t>
            </a:r>
            <a:r>
              <a:rPr sz="1300" b="0">
                <a:solidFill>
                  <a:srgbClr val="444B54"/>
                </a:solidFill>
                <a:latin typeface="Calibri"/>
              </a:rPr>
              <a:t> — checks every required document for a case</a:t>
            </a:r>
          </a:p>
          <a:p>
            <a:pPr>
              <a:lnSpc>
                <a:spcPct val="103000"/>
              </a:lnSpc>
              <a:spcAft>
                <a:spcPts val="800"/>
              </a:spcAft>
            </a:pPr>
            <a:r>
              <a:rPr sz="1300" b="1">
                <a:solidFill>
                  <a:srgbClr val="1A1D21"/>
                </a:solidFill>
                <a:latin typeface="Calibri"/>
              </a:rPr>
              <a:t>▪  Automatic reminder emails </a:t>
            </a:r>
            <a:r>
              <a:rPr sz="1300" b="0">
                <a:solidFill>
                  <a:srgbClr val="444B54"/>
                </a:solidFill>
                <a:latin typeface="Calibri"/>
              </a:rPr>
              <a:t> — notifies the provider the moment documents are outstanding</a:t>
            </a:r>
          </a:p>
          <a:p>
            <a:pPr>
              <a:lnSpc>
                <a:spcPct val="103000"/>
              </a:lnSpc>
              <a:spcAft>
                <a:spcPts val="800"/>
              </a:spcAft>
            </a:pPr>
            <a:r>
              <a:rPr sz="1300" b="1">
                <a:solidFill>
                  <a:srgbClr val="1A1D21"/>
                </a:solidFill>
                <a:latin typeface="Calibri"/>
              </a:rPr>
              <a:t>▪  Always grounded in Salesforce data </a:t>
            </a:r>
            <a:r>
              <a:rPr sz="1300" b="0">
                <a:solidFill>
                  <a:srgbClr val="444B54"/>
                </a:solidFill>
                <a:latin typeface="Calibri"/>
              </a:rPr>
              <a:t> — never invents information</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Fewer repetitive questions</a:t>
            </a:r>
            <a:r>
              <a:rPr sz="1300" b="0">
                <a:solidFill>
                  <a:srgbClr val="444B54"/>
                </a:solidFill>
                <a:latin typeface="Calibri"/>
              </a:rPr>
              <a:t> — one conversation replaces manual case digging</a:t>
            </a:r>
          </a:p>
          <a:p>
            <a:pPr>
              <a:lnSpc>
                <a:spcPct val="103000"/>
              </a:lnSpc>
              <a:spcAft>
                <a:spcPts val="800"/>
              </a:spcAft>
            </a:pPr>
            <a:r>
              <a:rPr sz="1300" b="1">
                <a:solidFill>
                  <a:srgbClr val="1A1D21"/>
                </a:solidFill>
                <a:latin typeface="Calibri"/>
              </a:rPr>
              <a:t>▪  Faster document turnaround</a:t>
            </a:r>
            <a:r>
              <a:rPr sz="1300" b="0">
                <a:solidFill>
                  <a:srgbClr val="444B54"/>
                </a:solidFill>
                <a:latin typeface="Calibri"/>
              </a:rPr>
              <a:t> — automatic reminders close credentialing gaps sooner</a:t>
            </a:r>
          </a:p>
          <a:p>
            <a:pPr>
              <a:lnSpc>
                <a:spcPct val="103000"/>
              </a:lnSpc>
              <a:spcAft>
                <a:spcPts val="800"/>
              </a:spcAft>
            </a:pPr>
            <a:r>
              <a:rPr sz="1300" b="1">
                <a:solidFill>
                  <a:srgbClr val="1A1D21"/>
                </a:solidFill>
                <a:latin typeface="Calibri"/>
              </a:rPr>
              <a:t>▪  Consistent, compliant explanations</a:t>
            </a:r>
            <a:r>
              <a:rPr sz="1300" b="0">
                <a:solidFill>
                  <a:srgbClr val="444B54"/>
                </a:solidFill>
                <a:latin typeface="Calibri"/>
              </a:rPr>
              <a:t> — every case status is explained the same way</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CASE LOOKUPS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11</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Rep:  </a:t>
            </a:r>
            <a:r>
              <a:rPr b="0" sz="1000">
                <a:solidFill>
                  <a:srgbClr val="444B54"/>
                </a:solidFill>
                <a:latin typeface="Calibri"/>
              </a:rPr>
              <a:t>“Can you summarize credentialing case CR-000045?”</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“It's in Committee Review — submitted 5/4, expected completion 8/25, all documents on file.” Resolved in ~2 min vs. ~10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10 min</a:t>
                      </a:r>
                    </a:p>
                  </a:txBody>
                  <a:tcPr marL="45720" marR="45720" marT="18288" marB="18288" anchor="ctr">
                    <a:solidFill>
                      <a:srgbClr val="FFFFFF"/>
                    </a:solidFill>
                  </a:tcPr>
                </a:tc>
                <a:tc>
                  <a:txBody>
                    <a:bodyPr wrap="square"/>
                    <a:lstStyle/>
                    <a:p>
                      <a:r>
                        <a:rPr b="0" sz="1100">
                          <a:solidFill>
                            <a:srgbClr val="1A1D21"/>
                          </a:solidFill>
                          <a:latin typeface="Calibri"/>
                        </a:rPr>
                        <a:t>2 min</a:t>
                      </a:r>
                    </a:p>
                  </a:txBody>
                  <a:tcPr marL="45720" marR="45720" marT="18288" marB="18288" anchor="ctr">
                    <a:solidFill>
                      <a:srgbClr val="FFFFFF"/>
                    </a:solidFill>
                  </a:tcPr>
                </a:tc>
                <a:tc>
                  <a:txBody>
                    <a:bodyPr wrap="square"/>
                    <a:lstStyle/>
                    <a:p>
                      <a:r>
                        <a:rPr b="1" sz="1100">
                          <a:solidFill>
                            <a:srgbClr val="04844B"/>
                          </a:solidFill>
                          <a:latin typeface="Calibri"/>
                        </a:rPr>
                        <a:t>13.3 hrs (80%)</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Network Participation Verification Agent</a:t>
            </a:r>
          </a:p>
        </p:txBody>
      </p:sp>
      <p:sp>
        <p:nvSpPr>
          <p:cNvPr id="6" name="Rounded Rectangle 5"/>
          <p:cNvSpPr/>
          <p:nvPr/>
        </p:nvSpPr>
        <p:spPr>
          <a:xfrm>
            <a:off x="548640" y="1298448"/>
            <a:ext cx="2011680" cy="310896"/>
          </a:xfrm>
          <a:prstGeom prst="round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Employee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Verifies a provider's network participation — specialty, tier, and service locations — from name and NPI.</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Network operations, contact-center, and provider relations staff confirming a provider's network participation.</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within the Salesforce console — used by internal staff before routing claims, scheduling, or referrals.</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Two-factor provider lookup </a:t>
            </a:r>
            <a:r>
              <a:rPr sz="1300" b="0">
                <a:solidFill>
                  <a:srgbClr val="444B54"/>
                </a:solidFill>
                <a:latin typeface="Calibri"/>
              </a:rPr>
              <a:t> — requires both Name and NPI before searching</a:t>
            </a:r>
          </a:p>
          <a:p>
            <a:pPr>
              <a:lnSpc>
                <a:spcPct val="103000"/>
              </a:lnSpc>
              <a:spcAft>
                <a:spcPts val="800"/>
              </a:spcAft>
            </a:pPr>
            <a:r>
              <a:rPr sz="1300" b="1">
                <a:solidFill>
                  <a:srgbClr val="1A1D21"/>
                </a:solidFill>
                <a:latin typeface="Calibri"/>
              </a:rPr>
              <a:t>▪  Network participation details </a:t>
            </a:r>
            <a:r>
              <a:rPr sz="1300" b="0">
                <a:solidFill>
                  <a:srgbClr val="444B54"/>
                </a:solidFill>
                <a:latin typeface="Calibri"/>
              </a:rPr>
              <a:t> — network name, Active/Inactive status, tier</a:t>
            </a:r>
          </a:p>
          <a:p>
            <a:pPr>
              <a:lnSpc>
                <a:spcPct val="103000"/>
              </a:lnSpc>
              <a:spcAft>
                <a:spcPts val="800"/>
              </a:spcAft>
            </a:pPr>
            <a:r>
              <a:rPr sz="1300" b="1">
                <a:solidFill>
                  <a:srgbClr val="1A1D21"/>
                </a:solidFill>
                <a:latin typeface="Calibri"/>
              </a:rPr>
              <a:t>▪  Service location directory </a:t>
            </a:r>
            <a:r>
              <a:rPr sz="1300" b="0">
                <a:solidFill>
                  <a:srgbClr val="444B54"/>
                </a:solidFill>
                <a:latin typeface="Calibri"/>
              </a:rPr>
              <a:t> — every location on file for the provider</a:t>
            </a:r>
          </a:p>
          <a:p>
            <a:pPr>
              <a:lnSpc>
                <a:spcPct val="103000"/>
              </a:lnSpc>
              <a:spcAft>
                <a:spcPts val="800"/>
              </a:spcAft>
            </a:pPr>
            <a:r>
              <a:rPr sz="1300" b="1">
                <a:solidFill>
                  <a:srgbClr val="1A1D21"/>
                </a:solidFill>
                <a:latin typeface="Calibri"/>
              </a:rPr>
              <a:t>▪  General FAQ via knowledge search </a:t>
            </a:r>
            <a:r>
              <a:rPr sz="1300" b="0">
                <a:solidFill>
                  <a:srgbClr val="444B54"/>
                </a:solidFill>
                <a:latin typeface="Calibri"/>
              </a:rPr>
              <a:t> — answers policy and procedure questions</a:t>
            </a:r>
          </a:p>
          <a:p>
            <a:pPr>
              <a:lnSpc>
                <a:spcPct val="103000"/>
              </a:lnSpc>
              <a:spcAft>
                <a:spcPts val="800"/>
              </a:spcAft>
            </a:pPr>
            <a:r>
              <a:rPr sz="1300" b="1">
                <a:solidFill>
                  <a:srgbClr val="1A1D21"/>
                </a:solidFill>
                <a:latin typeface="Calibri"/>
              </a:rPr>
              <a:t>▪  Off-topic &amp; ambiguous guardrails </a:t>
            </a:r>
            <a:r>
              <a:rPr sz="1300" b="0">
                <a:solidFill>
                  <a:srgbClr val="444B54"/>
                </a:solidFill>
                <a:latin typeface="Calibri"/>
              </a:rPr>
              <a:t> — redirects instead of guessing</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Confirms participation before action</a:t>
            </a:r>
            <a:r>
              <a:rPr sz="1300" b="0">
                <a:solidFill>
                  <a:srgbClr val="444B54"/>
                </a:solidFill>
                <a:latin typeface="Calibri"/>
              </a:rPr>
              <a:t> — reduces claim and referral errors downstream</a:t>
            </a:r>
          </a:p>
          <a:p>
            <a:pPr>
              <a:lnSpc>
                <a:spcPct val="103000"/>
              </a:lnSpc>
              <a:spcAft>
                <a:spcPts val="800"/>
              </a:spcAft>
            </a:pPr>
            <a:r>
              <a:rPr sz="1300" b="1">
                <a:solidFill>
                  <a:srgbClr val="1A1D21"/>
                </a:solidFill>
                <a:latin typeface="Calibri"/>
              </a:rPr>
              <a:t>▪  Deflects routine lookups</a:t>
            </a:r>
            <a:r>
              <a:rPr sz="1300" b="0">
                <a:solidFill>
                  <a:srgbClr val="444B54"/>
                </a:solidFill>
                <a:latin typeface="Calibri"/>
              </a:rPr>
              <a:t> — frees network ops for complex cases</a:t>
            </a:r>
          </a:p>
          <a:p>
            <a:pPr>
              <a:lnSpc>
                <a:spcPct val="103000"/>
              </a:lnSpc>
              <a:spcAft>
                <a:spcPts val="800"/>
              </a:spcAft>
            </a:pPr>
            <a:r>
              <a:rPr sz="1300" b="1">
                <a:solidFill>
                  <a:srgbClr val="1A1D21"/>
                </a:solidFill>
                <a:latin typeface="Calibri"/>
              </a:rPr>
              <a:t>▪  Self-service knowledge answers</a:t>
            </a:r>
            <a:r>
              <a:rPr sz="1300" b="0">
                <a:solidFill>
                  <a:srgbClr val="444B54"/>
                </a:solidFill>
                <a:latin typeface="Calibri"/>
              </a:rPr>
              <a:t> — policy questions resolved without escalation</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VERIFICATIONS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12</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Rep:  </a:t>
            </a:r>
            <a:r>
              <a:rPr b="0" sz="1000">
                <a:solidFill>
                  <a:srgbClr val="444B54"/>
                </a:solidFill>
                <a:latin typeface="Calibri"/>
              </a:rPr>
              <a:t>“Verify network participation for Dr. Jane Smith, NPI 1234567890.”</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“She participates in Meridian Preferred (Active, Tier 1) and Advantage HMO (Active, Tier 2), with 2 service locations on file.” Resolved in ~1.5 min vs. ~8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8 min</a:t>
                      </a:r>
                    </a:p>
                  </a:txBody>
                  <a:tcPr marL="45720" marR="45720" marT="18288" marB="18288" anchor="ctr">
                    <a:solidFill>
                      <a:srgbClr val="FFFFFF"/>
                    </a:solidFill>
                  </a:tcPr>
                </a:tc>
                <a:tc>
                  <a:txBody>
                    <a:bodyPr wrap="square"/>
                    <a:lstStyle/>
                    <a:p>
                      <a:r>
                        <a:rPr b="0" sz="1100">
                          <a:solidFill>
                            <a:srgbClr val="1A1D21"/>
                          </a:solidFill>
                          <a:latin typeface="Calibri"/>
                        </a:rPr>
                        <a:t>1.5 min</a:t>
                      </a:r>
                    </a:p>
                  </a:txBody>
                  <a:tcPr marL="45720" marR="45720" marT="18288" marB="18288" anchor="ctr">
                    <a:solidFill>
                      <a:srgbClr val="FFFFFF"/>
                    </a:solidFill>
                  </a:tcPr>
                </a:tc>
                <a:tc>
                  <a:txBody>
                    <a:bodyPr wrap="square"/>
                    <a:lstStyle/>
                    <a:p>
                      <a:r>
                        <a:rPr b="1" sz="1100">
                          <a:solidFill>
                            <a:srgbClr val="04844B"/>
                          </a:solidFill>
                          <a:latin typeface="Calibri"/>
                        </a:rPr>
                        <a:t>10.8 hrs (81%)</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Claims Assistance Agent</a:t>
            </a:r>
          </a:p>
        </p:txBody>
      </p:sp>
      <p:sp>
        <p:nvSpPr>
          <p:cNvPr id="6" name="Rounded Rectangle 5"/>
          <p:cNvSpPr/>
          <p:nvPr/>
        </p:nvSpPr>
        <p:spPr>
          <a:xfrm>
            <a:off x="548640" y="1298448"/>
            <a:ext cx="2011680" cy="310896"/>
          </a:xfrm>
          <a:prstGeom prst="round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Service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Looks up a provider claim by number and reports status, dates, and amounts in plain language.</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Providers and provider-support staff checking the status of a submitted claim.</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Messaging on the provider support channel — available to providers directly.</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Claim lookup by number </a:t>
            </a:r>
            <a:r>
              <a:rPr sz="1300" b="0">
                <a:solidFill>
                  <a:srgbClr val="444B54"/>
                </a:solidFill>
                <a:latin typeface="Calibri"/>
              </a:rPr>
              <a:t> — retrieves the matching Provider Claim record</a:t>
            </a:r>
          </a:p>
          <a:p>
            <a:pPr>
              <a:lnSpc>
                <a:spcPct val="103000"/>
              </a:lnSpc>
              <a:spcAft>
                <a:spcPts val="800"/>
              </a:spcAft>
            </a:pPr>
            <a:r>
              <a:rPr sz="1300" b="1">
                <a:solidFill>
                  <a:srgbClr val="1A1D21"/>
                </a:solidFill>
                <a:latin typeface="Calibri"/>
              </a:rPr>
              <a:t>▪  Consolidated claim summary </a:t>
            </a:r>
            <a:r>
              <a:rPr sz="1300" b="0">
                <a:solidFill>
                  <a:srgbClr val="444B54"/>
                </a:solidFill>
                <a:latin typeface="Calibri"/>
              </a:rPr>
              <a:t> — type, status, dates, and dollar amounts</a:t>
            </a:r>
          </a:p>
          <a:p>
            <a:pPr>
              <a:lnSpc>
                <a:spcPct val="103000"/>
              </a:lnSpc>
              <a:spcAft>
                <a:spcPts val="800"/>
              </a:spcAft>
            </a:pPr>
            <a:r>
              <a:rPr sz="1300" b="1">
                <a:solidFill>
                  <a:srgbClr val="1A1D21"/>
                </a:solidFill>
                <a:latin typeface="Calibri"/>
              </a:rPr>
              <a:t>▪  Denial-aware reporting </a:t>
            </a:r>
            <a:r>
              <a:rPr sz="1300" b="0">
                <a:solidFill>
                  <a:srgbClr val="444B54"/>
                </a:solidFill>
                <a:latin typeface="Calibri"/>
              </a:rPr>
              <a:t> — surfaces the denial reason only when denied</a:t>
            </a:r>
          </a:p>
          <a:p>
            <a:pPr>
              <a:lnSpc>
                <a:spcPct val="103000"/>
              </a:lnSpc>
              <a:spcAft>
                <a:spcPts val="800"/>
              </a:spcAft>
            </a:pPr>
            <a:r>
              <a:rPr sz="1300" b="1">
                <a:solidFill>
                  <a:srgbClr val="1A1D21"/>
                </a:solidFill>
                <a:latin typeface="Calibri"/>
              </a:rPr>
              <a:t>▪  Not-found handling </a:t>
            </a:r>
            <a:r>
              <a:rPr sz="1300" b="0">
                <a:solidFill>
                  <a:srgbClr val="444B54"/>
                </a:solidFill>
                <a:latin typeface="Calibri"/>
              </a:rPr>
              <a:t> — asks the user to verify the claim number</a:t>
            </a:r>
          </a:p>
          <a:p>
            <a:pPr>
              <a:lnSpc>
                <a:spcPct val="103000"/>
              </a:lnSpc>
              <a:spcAft>
                <a:spcPts val="800"/>
              </a:spcAft>
            </a:pPr>
            <a:r>
              <a:rPr sz="1300" b="1">
                <a:solidFill>
                  <a:srgbClr val="1A1D21"/>
                </a:solidFill>
                <a:latin typeface="Calibri"/>
              </a:rPr>
              <a:t>▪  Read-only guarantee </a:t>
            </a:r>
            <a:r>
              <a:rPr sz="1300" b="0">
                <a:solidFill>
                  <a:srgbClr val="444B54"/>
                </a:solidFill>
                <a:latin typeface="Calibri"/>
              </a:rPr>
              <a:t> — never modifies claim data</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Instant claim status</a:t>
            </a:r>
            <a:r>
              <a:rPr sz="1300" b="0">
                <a:solidFill>
                  <a:srgbClr val="444B54"/>
                </a:solidFill>
                <a:latin typeface="Calibri"/>
              </a:rPr>
              <a:t> — no hold time for a routine “where's my claim” question</a:t>
            </a:r>
          </a:p>
          <a:p>
            <a:pPr>
              <a:lnSpc>
                <a:spcPct val="103000"/>
              </a:lnSpc>
              <a:spcAft>
                <a:spcPts val="800"/>
              </a:spcAft>
            </a:pPr>
            <a:r>
              <a:rPr sz="1300" b="1">
                <a:solidFill>
                  <a:srgbClr val="1A1D21"/>
                </a:solidFill>
                <a:latin typeface="Calibri"/>
              </a:rPr>
              <a:t>▪  Transparent denial reasons</a:t>
            </a:r>
            <a:r>
              <a:rPr sz="1300" b="0">
                <a:solidFill>
                  <a:srgbClr val="444B54"/>
                </a:solidFill>
                <a:latin typeface="Calibri"/>
              </a:rPr>
              <a:t> — providers understand outcomes without a callback</a:t>
            </a:r>
          </a:p>
          <a:p>
            <a:pPr>
              <a:lnSpc>
                <a:spcPct val="103000"/>
              </a:lnSpc>
              <a:spcAft>
                <a:spcPts val="800"/>
              </a:spcAft>
            </a:pPr>
            <a:r>
              <a:rPr sz="1300" b="1">
                <a:solidFill>
                  <a:srgbClr val="1A1D21"/>
                </a:solidFill>
                <a:latin typeface="Calibri"/>
              </a:rPr>
              <a:t>▪  Zero risk of data changes</a:t>
            </a:r>
            <a:r>
              <a:rPr sz="1300" b="0">
                <a:solidFill>
                  <a:srgbClr val="444B54"/>
                </a:solidFill>
                <a:latin typeface="Calibri"/>
              </a:rPr>
              <a:t> — a strictly read-only lookup</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CLAIM LOOKUPS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13</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Provider:  </a:t>
            </a:r>
            <a:r>
              <a:rPr b="0" sz="1000">
                <a:solidFill>
                  <a:srgbClr val="444B54"/>
                </a:solidFill>
                <a:latin typeface="Calibri"/>
              </a:rPr>
              <a:t>“What's the status of claim CLM-00042?”</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“Approved — $412.00 approved, finalized 6/2/26.” Resolved in ~1 min vs. ~6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6 min</a:t>
                      </a:r>
                    </a:p>
                  </a:txBody>
                  <a:tcPr marL="45720" marR="45720" marT="18288" marB="18288" anchor="ctr">
                    <a:solidFill>
                      <a:srgbClr val="FFFFFF"/>
                    </a:solidFill>
                  </a:tcPr>
                </a:tc>
                <a:tc>
                  <a:txBody>
                    <a:bodyPr wrap="square"/>
                    <a:lstStyle/>
                    <a:p>
                      <a:r>
                        <a:rPr b="0" sz="1100">
                          <a:solidFill>
                            <a:srgbClr val="1A1D21"/>
                          </a:solidFill>
                          <a:latin typeface="Calibri"/>
                        </a:rPr>
                        <a:t>1 min</a:t>
                      </a:r>
                    </a:p>
                  </a:txBody>
                  <a:tcPr marL="45720" marR="45720" marT="18288" marB="18288" anchor="ctr">
                    <a:solidFill>
                      <a:srgbClr val="FFFFFF"/>
                    </a:solidFill>
                  </a:tcPr>
                </a:tc>
                <a:tc>
                  <a:txBody>
                    <a:bodyPr wrap="square"/>
                    <a:lstStyle/>
                    <a:p>
                      <a:r>
                        <a:rPr b="1" sz="1100">
                          <a:solidFill>
                            <a:srgbClr val="04844B"/>
                          </a:solidFill>
                          <a:latin typeface="Calibri"/>
                        </a:rPr>
                        <a:t>8.3 hrs (83%)</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Issue Management Agent</a:t>
            </a:r>
          </a:p>
        </p:txBody>
      </p:sp>
      <p:sp>
        <p:nvSpPr>
          <p:cNvPr id="6" name="Rounded Rectangle 5"/>
          <p:cNvSpPr/>
          <p:nvPr/>
        </p:nvSpPr>
        <p:spPr>
          <a:xfrm>
            <a:off x="548640" y="1298448"/>
            <a:ext cx="2011680" cy="310896"/>
          </a:xfrm>
          <a:prstGeom prst="round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Service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Classifies a provider's issue and recommends the right resolution path — or escalates to a person.</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Providers contacting support with claims, payment, credentialing, contract, or directory issues.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Messaging on the provider support channel, with escalation to the Escalation Team queue.</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Provider identification </a:t>
            </a:r>
            <a:r>
              <a:rPr sz="1300" b="0">
                <a:solidFill>
                  <a:srgbClr val="444B54"/>
                </a:solidFill>
                <a:latin typeface="Calibri"/>
              </a:rPr>
              <a:t> — confirms identity by Name, NPI, and specialty</a:t>
            </a:r>
          </a:p>
          <a:p>
            <a:pPr>
              <a:lnSpc>
                <a:spcPct val="103000"/>
              </a:lnSpc>
              <a:spcAft>
                <a:spcPts val="800"/>
              </a:spcAft>
            </a:pPr>
            <a:r>
              <a:rPr sz="1300" b="1">
                <a:solidFill>
                  <a:srgbClr val="1A1D21"/>
                </a:solidFill>
                <a:latin typeface="Calibri"/>
              </a:rPr>
              <a:t>▪  AI-powered issue classification </a:t>
            </a:r>
            <a:r>
              <a:rPr sz="1300" b="0">
                <a:solidFill>
                  <a:srgbClr val="444B54"/>
                </a:solidFill>
                <a:latin typeface="Calibri"/>
              </a:rPr>
              <a:t> — sorts the issue into one of five categories</a:t>
            </a:r>
          </a:p>
          <a:p>
            <a:pPr>
              <a:lnSpc>
                <a:spcPct val="103000"/>
              </a:lnSpc>
              <a:spcAft>
                <a:spcPts val="800"/>
              </a:spcAft>
            </a:pPr>
            <a:r>
              <a:rPr sz="1300" b="1">
                <a:solidFill>
                  <a:srgbClr val="1A1D21"/>
                </a:solidFill>
                <a:latin typeface="Calibri"/>
              </a:rPr>
              <a:t>▪  Confidence-gated recommendations </a:t>
            </a:r>
            <a:r>
              <a:rPr sz="1300" b="0">
                <a:solidFill>
                  <a:srgbClr val="444B54"/>
                </a:solidFill>
                <a:latin typeface="Calibri"/>
              </a:rPr>
              <a:t> — only recommends action at 60%+ confidence</a:t>
            </a:r>
          </a:p>
          <a:p>
            <a:pPr>
              <a:lnSpc>
                <a:spcPct val="103000"/>
              </a:lnSpc>
              <a:spcAft>
                <a:spcPts val="800"/>
              </a:spcAft>
            </a:pPr>
            <a:r>
              <a:rPr sz="1300" b="1">
                <a:solidFill>
                  <a:srgbClr val="1A1D21"/>
                </a:solidFill>
                <a:latin typeface="Calibri"/>
              </a:rPr>
              <a:t>▪  Context-aware resolution guidance </a:t>
            </a:r>
            <a:r>
              <a:rPr sz="1300" b="0">
                <a:solidFill>
                  <a:srgbClr val="444B54"/>
                </a:solidFill>
                <a:latin typeface="Calibri"/>
              </a:rPr>
              <a:t> — reasons over the matched record's real data</a:t>
            </a:r>
          </a:p>
          <a:p>
            <a:pPr>
              <a:lnSpc>
                <a:spcPct val="103000"/>
              </a:lnSpc>
              <a:spcAft>
                <a:spcPts val="800"/>
              </a:spcAft>
            </a:pPr>
            <a:r>
              <a:rPr sz="1300" b="1">
                <a:solidFill>
                  <a:srgbClr val="1A1D21"/>
                </a:solidFill>
                <a:latin typeface="Calibri"/>
              </a:rPr>
              <a:t>▪  Escalation to a live agent </a:t>
            </a:r>
            <a:r>
              <a:rPr sz="1300" b="0">
                <a:solidFill>
                  <a:srgbClr val="444B54"/>
                </a:solidFill>
                <a:latin typeface="Calibri"/>
              </a:rPr>
              <a:t> — hands off low-confidence or explicit requests</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Faster, consistent triage</a:t>
            </a:r>
            <a:r>
              <a:rPr sz="1300" b="0">
                <a:solidFill>
                  <a:srgbClr val="444B54"/>
                </a:solidFill>
                <a:latin typeface="Calibri"/>
              </a:rPr>
              <a:t> — every issue classified and routed the same way</a:t>
            </a:r>
          </a:p>
          <a:p>
            <a:pPr>
              <a:lnSpc>
                <a:spcPct val="103000"/>
              </a:lnSpc>
              <a:spcAft>
                <a:spcPts val="800"/>
              </a:spcAft>
            </a:pPr>
            <a:r>
              <a:rPr sz="1300" b="1">
                <a:solidFill>
                  <a:srgbClr val="1A1D21"/>
                </a:solidFill>
                <a:latin typeface="Calibri"/>
              </a:rPr>
              <a:t>▪  Right-sized escalation</a:t>
            </a:r>
            <a:r>
              <a:rPr sz="1300" b="0">
                <a:solidFill>
                  <a:srgbClr val="444B54"/>
                </a:solidFill>
                <a:latin typeface="Calibri"/>
              </a:rPr>
              <a:t> — only genuinely uncertain cases reach a human</a:t>
            </a:r>
          </a:p>
          <a:p>
            <a:pPr>
              <a:lnSpc>
                <a:spcPct val="103000"/>
              </a:lnSpc>
              <a:spcAft>
                <a:spcPts val="800"/>
              </a:spcAft>
            </a:pPr>
            <a:r>
              <a:rPr sz="1300" b="1">
                <a:solidFill>
                  <a:srgbClr val="1A1D21"/>
                </a:solidFill>
                <a:latin typeface="Calibri"/>
              </a:rPr>
              <a:t>▪  Less repeat contact</a:t>
            </a:r>
            <a:r>
              <a:rPr sz="1300" b="0">
                <a:solidFill>
                  <a:srgbClr val="444B54"/>
                </a:solidFill>
                <a:latin typeface="Calibri"/>
              </a:rPr>
              <a:t> — providers get a resolution path in the first conversation</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ISSUES TRIAGED</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14</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Provider:  </a:t>
            </a:r>
            <a:r>
              <a:rPr b="0" sz="1000">
                <a:solidFill>
                  <a:srgbClr val="444B54"/>
                </a:solidFill>
                <a:latin typeface="Calibri"/>
              </a:rPr>
              <a:t>“I submitted a claim two weeks ago and haven't heard anything.”</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“This looks like a Claims Issue (92% confidence) — claim CLM-00089 is still Under Review; I can escalate to a specialist.” Resolved in ~3 min vs. ~12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12 min</a:t>
                      </a:r>
                    </a:p>
                  </a:txBody>
                  <a:tcPr marL="45720" marR="45720" marT="18288" marB="18288" anchor="ctr">
                    <a:solidFill>
                      <a:srgbClr val="FFFFFF"/>
                    </a:solidFill>
                  </a:tcPr>
                </a:tc>
                <a:tc>
                  <a:txBody>
                    <a:bodyPr wrap="square"/>
                    <a:lstStyle/>
                    <a:p>
                      <a:r>
                        <a:rPr b="0" sz="1100">
                          <a:solidFill>
                            <a:srgbClr val="1A1D21"/>
                          </a:solidFill>
                          <a:latin typeface="Calibri"/>
                        </a:rPr>
                        <a:t>3 min</a:t>
                      </a:r>
                    </a:p>
                  </a:txBody>
                  <a:tcPr marL="45720" marR="45720" marT="18288" marB="18288" anchor="ctr">
                    <a:solidFill>
                      <a:srgbClr val="FFFFFF"/>
                    </a:solidFill>
                  </a:tcPr>
                </a:tc>
                <a:tc>
                  <a:txBody>
                    <a:bodyPr wrap="square"/>
                    <a:lstStyle/>
                    <a:p>
                      <a:r>
                        <a:rPr b="1" sz="1100">
                          <a:solidFill>
                            <a:srgbClr val="04844B"/>
                          </a:solidFill>
                          <a:latin typeface="Calibri"/>
                        </a:rPr>
                        <a:t>15.0 hrs (75%)</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Provider Termination Agent</a:t>
            </a:r>
          </a:p>
        </p:txBody>
      </p:sp>
      <p:sp>
        <p:nvSpPr>
          <p:cNvPr id="6" name="Rounded Rectangle 5"/>
          <p:cNvSpPr/>
          <p:nvPr/>
        </p:nvSpPr>
        <p:spPr>
          <a:xfrm>
            <a:off x="548640" y="1298448"/>
            <a:ext cx="2011680" cy="310896"/>
          </a:xfrm>
          <a:prstGeom prst="round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Service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Shows who's impacted before a provider is terminated, then submits the request in one conversation.</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Network operations and contact-center staff managing provider network exits.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Chat within the Salesforce console — used by network ops staff before and during termination processing.</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Provider lookup by NPI </a:t>
            </a:r>
            <a:r>
              <a:rPr sz="1300" b="0">
                <a:solidFill>
                  <a:srgbClr val="444B54"/>
                </a:solidFill>
                <a:latin typeface="Calibri"/>
              </a:rPr>
              <a:t> — confirms identity before anything else</a:t>
            </a:r>
          </a:p>
          <a:p>
            <a:pPr>
              <a:lnSpc>
                <a:spcPct val="103000"/>
              </a:lnSpc>
              <a:spcAft>
                <a:spcPts val="800"/>
              </a:spcAft>
            </a:pPr>
            <a:r>
              <a:rPr sz="1300" b="1">
                <a:solidFill>
                  <a:srgbClr val="1A1D21"/>
                </a:solidFill>
                <a:latin typeface="Calibri"/>
              </a:rPr>
              <a:t>▪  Impact analysis before action </a:t>
            </a:r>
            <a:r>
              <a:rPr sz="1300" b="0">
                <a:solidFill>
                  <a:srgbClr val="444B54"/>
                </a:solidFill>
                <a:latin typeface="Calibri"/>
              </a:rPr>
              <a:t> — impacted members and active authorizations</a:t>
            </a:r>
          </a:p>
          <a:p>
            <a:pPr>
              <a:lnSpc>
                <a:spcPct val="103000"/>
              </a:lnSpc>
              <a:spcAft>
                <a:spcPts val="800"/>
              </a:spcAft>
            </a:pPr>
            <a:r>
              <a:rPr sz="1300" b="1">
                <a:solidFill>
                  <a:srgbClr val="1A1D21"/>
                </a:solidFill>
                <a:latin typeface="Calibri"/>
              </a:rPr>
              <a:t>▪  Confirmation-gated termination </a:t>
            </a:r>
            <a:r>
              <a:rPr sz="1300" b="0">
                <a:solidFill>
                  <a:srgbClr val="444B54"/>
                </a:solidFill>
                <a:latin typeface="Calibri"/>
              </a:rPr>
              <a:t> — only proceeds after explicit user go-ahead</a:t>
            </a:r>
          </a:p>
          <a:p>
            <a:pPr>
              <a:lnSpc>
                <a:spcPct val="103000"/>
              </a:lnSpc>
              <a:spcAft>
                <a:spcPts val="800"/>
              </a:spcAft>
            </a:pPr>
            <a:r>
              <a:rPr sz="1300" b="1">
                <a:solidFill>
                  <a:srgbClr val="1A1D21"/>
                </a:solidFill>
                <a:latin typeface="Calibri"/>
              </a:rPr>
              <a:t>▪  Duplicate-request protection </a:t>
            </a:r>
            <a:r>
              <a:rPr sz="1300" b="0">
                <a:solidFill>
                  <a:srgbClr val="444B54"/>
                </a:solidFill>
                <a:latin typeface="Calibri"/>
              </a:rPr>
              <a:t> — flags an existing open request instead of duplicating</a:t>
            </a:r>
          </a:p>
          <a:p>
            <a:pPr>
              <a:lnSpc>
                <a:spcPct val="103000"/>
              </a:lnSpc>
              <a:spcAft>
                <a:spcPts val="800"/>
              </a:spcAft>
            </a:pPr>
            <a:r>
              <a:rPr sz="1300" b="1">
                <a:solidFill>
                  <a:srgbClr val="1A1D21"/>
                </a:solidFill>
                <a:latin typeface="Calibri"/>
              </a:rPr>
              <a:t>▪  Structured conversation state </a:t>
            </a:r>
            <a:r>
              <a:rPr sz="1300" b="0">
                <a:solidFill>
                  <a:srgbClr val="444B54"/>
                </a:solidFill>
                <a:latin typeface="Calibri"/>
              </a:rPr>
              <a:t> — reuses the resolved provider Id throughout</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Fully informed decisions</a:t>
            </a:r>
            <a:r>
              <a:rPr sz="1300" b="0">
                <a:solidFill>
                  <a:srgbClr val="444B54"/>
                </a:solidFill>
                <a:latin typeface="Calibri"/>
              </a:rPr>
              <a:t> — impact is visible before a provider is ever removed</a:t>
            </a:r>
          </a:p>
          <a:p>
            <a:pPr>
              <a:lnSpc>
                <a:spcPct val="103000"/>
              </a:lnSpc>
              <a:spcAft>
                <a:spcPts val="800"/>
              </a:spcAft>
            </a:pPr>
            <a:r>
              <a:rPr sz="1300" b="1">
                <a:solidFill>
                  <a:srgbClr val="1A1D21"/>
                </a:solidFill>
                <a:latin typeface="Calibri"/>
              </a:rPr>
              <a:t>▪  No duplicate requests</a:t>
            </a:r>
            <a:r>
              <a:rPr sz="1300" b="0">
                <a:solidFill>
                  <a:srgbClr val="444B54"/>
                </a:solidFill>
                <a:latin typeface="Calibri"/>
              </a:rPr>
              <a:t> — protects the approval queue from redundant work</a:t>
            </a:r>
          </a:p>
          <a:p>
            <a:pPr>
              <a:lnSpc>
                <a:spcPct val="103000"/>
              </a:lnSpc>
              <a:spcAft>
                <a:spcPts val="800"/>
              </a:spcAft>
            </a:pPr>
            <a:r>
              <a:rPr sz="1300" b="1">
                <a:solidFill>
                  <a:srgbClr val="1A1D21"/>
                </a:solidFill>
                <a:latin typeface="Calibri"/>
              </a:rPr>
              <a:t>▪  Faster, auditable terminations</a:t>
            </a:r>
            <a:r>
              <a:rPr sz="1300" b="0">
                <a:solidFill>
                  <a:srgbClr val="444B54"/>
                </a:solidFill>
                <a:latin typeface="Calibri"/>
              </a:rPr>
              <a:t> — request, reason, and impact captured in one record</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TERMINATION REVIEWS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15</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Rep:  </a:t>
            </a:r>
            <a:r>
              <a:rPr b="0" sz="1000">
                <a:solidFill>
                  <a:srgbClr val="444B54"/>
                </a:solidFill>
                <a:latin typeface="Calibri"/>
              </a:rPr>
              <a:t>“I need to terminate provider NPI 1234567890 — show me the impact first.”</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“3 impacted members and 2 active authorizations found. Confirmed — request PTR-0041 submitted, effective 9/1/26.” Resolved in ~5 min vs. ~20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20 min</a:t>
                      </a:r>
                    </a:p>
                  </a:txBody>
                  <a:tcPr marL="45720" marR="45720" marT="18288" marB="18288" anchor="ctr">
                    <a:solidFill>
                      <a:srgbClr val="FFFFFF"/>
                    </a:solidFill>
                  </a:tcPr>
                </a:tc>
                <a:tc>
                  <a:txBody>
                    <a:bodyPr wrap="square"/>
                    <a:lstStyle/>
                    <a:p>
                      <a:r>
                        <a:rPr b="0" sz="1100">
                          <a:solidFill>
                            <a:srgbClr val="1A1D21"/>
                          </a:solidFill>
                          <a:latin typeface="Calibri"/>
                        </a:rPr>
                        <a:t>5 min</a:t>
                      </a:r>
                    </a:p>
                  </a:txBody>
                  <a:tcPr marL="45720" marR="45720" marT="18288" marB="18288" anchor="ctr">
                    <a:solidFill>
                      <a:srgbClr val="FFFFFF"/>
                    </a:solidFill>
                  </a:tcPr>
                </a:tc>
                <a:tc>
                  <a:txBody>
                    <a:bodyPr wrap="square"/>
                    <a:lstStyle/>
                    <a:p>
                      <a:r>
                        <a:rPr b="1" sz="1100">
                          <a:solidFill>
                            <a:srgbClr val="04844B"/>
                          </a:solidFill>
                          <a:latin typeface="Calibri"/>
                        </a:rPr>
                        <a:t>25.0 hrs (75%)</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AGENT DETAIL</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Member Benefits and Eligibility Agent</a:t>
            </a:r>
          </a:p>
        </p:txBody>
      </p:sp>
      <p:sp>
        <p:nvSpPr>
          <p:cNvPr id="6" name="Rounded Rectangle 5"/>
          <p:cNvSpPr/>
          <p:nvPr/>
        </p:nvSpPr>
        <p:spPr>
          <a:xfrm>
            <a:off x="548640" y="1298448"/>
            <a:ext cx="2011680" cy="310896"/>
          </a:xfrm>
          <a:prstGeom prst="round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r>
              <a:rPr sz="1050" b="1">
                <a:solidFill>
                  <a:srgbClr val="FFFFFF"/>
                </a:solidFill>
                <a:latin typeface="Calibri"/>
              </a:rPr>
              <a:t>Service agent</a:t>
            </a:r>
          </a:p>
        </p:txBody>
      </p:sp>
      <p:sp>
        <p:nvSpPr>
          <p:cNvPr id="7" name="TextBox 6"/>
          <p:cNvSpPr txBox="1"/>
          <p:nvPr/>
        </p:nvSpPr>
        <p:spPr>
          <a:xfrm>
            <a:off x="2697480" y="1280160"/>
            <a:ext cx="8961120" cy="502920"/>
          </a:xfrm>
          <a:prstGeom prst="rect">
            <a:avLst/>
          </a:prstGeom>
          <a:noFill/>
        </p:spPr>
        <p:txBody>
          <a:bodyPr wrap="square" anchor="ctr">
            <a:spAutoFit/>
          </a:bodyPr>
          <a:lstStyle/>
          <a:p>
            <a:pPr algn="l">
              <a:lnSpc>
                <a:spcPct val="105000"/>
              </a:lnSpc>
              <a:spcBef>
                <a:spcPts val="0"/>
              </a:spcBef>
              <a:spcAft>
                <a:spcPts val="600"/>
              </a:spcAft>
            </a:pPr>
            <a:r>
              <a:rPr sz="1500" b="1">
                <a:solidFill>
                  <a:srgbClr val="032D60"/>
                </a:solidFill>
                <a:latin typeface="Calibri"/>
              </a:rPr>
              <a:t>Verifies a member's identity and answers benefits, plan coverage, and claims questions — over messaging and voice, escalating to a live agent when needed.</a:t>
            </a:r>
          </a:p>
        </p:txBody>
      </p:sp>
      <p:sp>
        <p:nvSpPr>
          <p:cNvPr id="8" name="Rectangle 7"/>
          <p:cNvSpPr/>
          <p:nvPr/>
        </p:nvSpPr>
        <p:spPr>
          <a:xfrm>
            <a:off x="548640" y="1874519"/>
            <a:ext cx="11091672" cy="8717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74519"/>
            <a:ext cx="10789920" cy="871728"/>
          </a:xfrm>
          <a:prstGeom prst="rect">
            <a:avLst/>
          </a:prstGeom>
          <a:noFill/>
        </p:spPr>
        <p:txBody>
          <a:bodyPr wrap="square" anchor="ctr">
            <a:spAutoFit/>
          </a:bodyPr>
          <a:lstStyle/>
          <a:p>
            <a:pPr algn="l">
              <a:lnSpc>
                <a:spcPct val="105000"/>
              </a:lnSpc>
              <a:spcBef>
                <a:spcPts val="0"/>
              </a:spcBef>
              <a:spcAft>
                <a:spcPts val="600"/>
              </a:spcAft>
            </a:pPr>
            <a:r>
              <a:rPr b="1" sz="1100">
                <a:solidFill>
                  <a:srgbClr val="04844B"/>
                </a:solidFill>
                <a:latin typeface="Calibri"/>
              </a:rPr>
              <a:t>WHO USES IT   </a:t>
            </a:r>
            <a:r>
              <a:rPr b="0" sz="1300">
                <a:solidFill>
                  <a:srgbClr val="444B54"/>
                </a:solidFill>
                <a:latin typeface="Calibri"/>
              </a:rPr>
              <a:t>Health plan members contacting the payer's member portal by messaging or phone about their benefits, coverage, or claims.</a:t>
            </a:r>
          </a:p>
          <a:p>
            <a:pPr>
              <a:lnSpc>
                <a:spcPct val="105000"/>
              </a:lnSpc>
              <a:spcBef>
                <a:spcPts val="0"/>
              </a:spcBef>
              <a:spcAft>
                <a:spcPts val="0"/>
              </a:spcAft>
            </a:pPr>
            <a:r>
              <a:rPr b="1" sz="1100">
                <a:solidFill>
                  <a:srgbClr val="04844B"/>
                </a:solidFill>
                <a:latin typeface="Calibri"/>
              </a:rPr>
              <a:t>CHANNELS   </a:t>
            </a:r>
            <a:r>
              <a:rPr b="0" sz="1300">
                <a:solidFill>
                  <a:srgbClr val="444B54"/>
                </a:solidFill>
                <a:latin typeface="Calibri"/>
              </a:rPr>
              <a:t>Messaging and telephony (voice) — the same agent runs a chat conversation or a live phone call via Agentforce Voice.</a:t>
            </a:r>
          </a:p>
        </p:txBody>
      </p:sp>
      <p:sp>
        <p:nvSpPr>
          <p:cNvPr id="10" name="TextBox 9"/>
          <p:cNvSpPr txBox="1"/>
          <p:nvPr/>
        </p:nvSpPr>
        <p:spPr>
          <a:xfrm>
            <a:off x="548640" y="2971800"/>
            <a:ext cx="576072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Key capabilities</a:t>
            </a:r>
          </a:p>
        </p:txBody>
      </p:sp>
      <p:sp>
        <p:nvSpPr>
          <p:cNvPr id="11" name="TextBox 10"/>
          <p:cNvSpPr txBox="1"/>
          <p:nvPr/>
        </p:nvSpPr>
        <p:spPr>
          <a:xfrm>
            <a:off x="548640" y="3383280"/>
            <a:ext cx="5852160" cy="274320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Member verification </a:t>
            </a:r>
            <a:r>
              <a:rPr sz="1300" b="0">
                <a:solidFill>
                  <a:srgbClr val="444B54"/>
                </a:solidFill>
                <a:latin typeface="Calibri"/>
              </a:rPr>
              <a:t> — authenticates by name, date of birth, and phone before disclosing any data</a:t>
            </a:r>
          </a:p>
          <a:p>
            <a:pPr>
              <a:lnSpc>
                <a:spcPct val="103000"/>
              </a:lnSpc>
              <a:spcAft>
                <a:spcPts val="800"/>
              </a:spcAft>
            </a:pPr>
            <a:r>
              <a:rPr sz="1300" b="1">
                <a:solidFill>
                  <a:srgbClr val="1A1D21"/>
                </a:solidFill>
                <a:latin typeface="Calibri"/>
              </a:rPr>
              <a:t>▪  Claims lookup </a:t>
            </a:r>
            <a:r>
              <a:rPr sz="1300" b="0">
                <a:solidFill>
                  <a:srgbClr val="444B54"/>
                </a:solidFill>
                <a:latin typeface="Calibri"/>
              </a:rPr>
              <a:t> — recent claims with status, service type, and approved amount, capped and sorted</a:t>
            </a:r>
          </a:p>
          <a:p>
            <a:pPr>
              <a:lnSpc>
                <a:spcPct val="103000"/>
              </a:lnSpc>
              <a:spcAft>
                <a:spcPts val="800"/>
              </a:spcAft>
            </a:pPr>
            <a:r>
              <a:rPr sz="1300" b="1">
                <a:solidFill>
                  <a:srgbClr val="1A1D21"/>
                </a:solidFill>
                <a:latin typeface="Calibri"/>
              </a:rPr>
              <a:t>▪  Benefits &amp; plan coverage </a:t>
            </a:r>
            <a:r>
              <a:rPr sz="1300" b="0">
                <a:solidFill>
                  <a:srgbClr val="444B54"/>
                </a:solidFill>
                <a:latin typeface="Calibri"/>
              </a:rPr>
              <a:t> — copays, deductibles, coinsurance, and out-of-pocket maximums</a:t>
            </a:r>
          </a:p>
          <a:p>
            <a:pPr>
              <a:lnSpc>
                <a:spcPct val="103000"/>
              </a:lnSpc>
              <a:spcAft>
                <a:spcPts val="800"/>
              </a:spcAft>
            </a:pPr>
            <a:r>
              <a:rPr sz="1300" b="1">
                <a:solidFill>
                  <a:srgbClr val="1A1D21"/>
                </a:solidFill>
                <a:latin typeface="Calibri"/>
              </a:rPr>
              <a:t>▪  Prior-authorization guidance </a:t>
            </a:r>
            <a:r>
              <a:rPr sz="1300" b="0">
                <a:solidFill>
                  <a:srgbClr val="444B54"/>
                </a:solidFill>
                <a:latin typeface="Calibri"/>
              </a:rPr>
              <a:t> — surfaces PA requirements from plan benefit details</a:t>
            </a:r>
          </a:p>
          <a:p>
            <a:pPr>
              <a:lnSpc>
                <a:spcPct val="103000"/>
              </a:lnSpc>
              <a:spcAft>
                <a:spcPts val="800"/>
              </a:spcAft>
            </a:pPr>
            <a:r>
              <a:rPr sz="1300" b="1">
                <a:solidFill>
                  <a:srgbClr val="1A1D21"/>
                </a:solidFill>
                <a:latin typeface="Calibri"/>
              </a:rPr>
              <a:t>▪  Voice &amp; messaging support </a:t>
            </a:r>
            <a:r>
              <a:rPr sz="1300" b="0">
                <a:solidFill>
                  <a:srgbClr val="444B54"/>
                </a:solidFill>
                <a:latin typeface="Calibri"/>
              </a:rPr>
              <a:t> — the same agent runs over chat and live phone calls</a:t>
            </a:r>
          </a:p>
        </p:txBody>
      </p:sp>
      <p:sp>
        <p:nvSpPr>
          <p:cNvPr id="12" name="TextBox 11"/>
          <p:cNvSpPr txBox="1"/>
          <p:nvPr/>
        </p:nvSpPr>
        <p:spPr>
          <a:xfrm>
            <a:off x="6629400" y="2971800"/>
            <a:ext cx="5029200" cy="320040"/>
          </a:xfrm>
          <a:prstGeom prst="rect">
            <a:avLst/>
          </a:prstGeom>
          <a:noFill/>
        </p:spPr>
        <p:txBody>
          <a:bodyPr wrap="square" anchor="t">
            <a:spAutoFit/>
          </a:bodyPr>
          <a:lstStyle/>
          <a:p>
            <a:pPr algn="l">
              <a:lnSpc>
                <a:spcPct val="105000"/>
              </a:lnSpc>
              <a:spcBef>
                <a:spcPts val="0"/>
              </a:spcBef>
              <a:spcAft>
                <a:spcPts val="600"/>
              </a:spcAft>
            </a:pPr>
            <a:r>
              <a:rPr sz="1500" b="1">
                <a:solidFill>
                  <a:srgbClr val="032D60"/>
                </a:solidFill>
                <a:latin typeface="Calibri"/>
              </a:rPr>
              <a:t>Business value</a:t>
            </a:r>
          </a:p>
        </p:txBody>
      </p:sp>
      <p:sp>
        <p:nvSpPr>
          <p:cNvPr id="13" name="TextBox 12"/>
          <p:cNvSpPr txBox="1"/>
          <p:nvPr/>
        </p:nvSpPr>
        <p:spPr>
          <a:xfrm>
            <a:off x="6629400" y="3383280"/>
            <a:ext cx="5029200" cy="2011680"/>
          </a:xfrm>
          <a:prstGeom prst="rect">
            <a:avLst/>
          </a:prstGeom>
          <a:noFill/>
        </p:spPr>
        <p:txBody>
          <a:bodyPr wrap="square">
            <a:spAutoFit/>
          </a:bodyPr>
          <a:lstStyle/>
          <a:p>
            <a:pPr>
              <a:lnSpc>
                <a:spcPct val="103000"/>
              </a:lnSpc>
              <a:spcAft>
                <a:spcPts val="800"/>
              </a:spcAft>
            </a:pPr>
            <a:r>
              <a:rPr sz="1300" b="1">
                <a:solidFill>
                  <a:srgbClr val="1A1D21"/>
                </a:solidFill>
                <a:latin typeface="Calibri"/>
              </a:rPr>
              <a:t>▪  Fewer inbound calls</a:t>
            </a:r>
            <a:r>
              <a:rPr sz="1300" b="0">
                <a:solidFill>
                  <a:srgbClr val="444B54"/>
                </a:solidFill>
                <a:latin typeface="Calibri"/>
              </a:rPr>
              <a:t> — routine benefits and claims questions resolved without a queue wait</a:t>
            </a:r>
          </a:p>
          <a:p>
            <a:pPr>
              <a:lnSpc>
                <a:spcPct val="103000"/>
              </a:lnSpc>
              <a:spcAft>
                <a:spcPts val="800"/>
              </a:spcAft>
            </a:pPr>
            <a:r>
              <a:rPr sz="1300" b="1">
                <a:solidFill>
                  <a:srgbClr val="1A1D21"/>
                </a:solidFill>
                <a:latin typeface="Calibri"/>
              </a:rPr>
              <a:t>▪  Consistent, verified answers</a:t>
            </a:r>
            <a:r>
              <a:rPr sz="1300" b="0">
                <a:solidFill>
                  <a:srgbClr val="444B54"/>
                </a:solidFill>
                <a:latin typeface="Calibri"/>
              </a:rPr>
              <a:t> — every member is authenticated before any data is shared</a:t>
            </a:r>
          </a:p>
          <a:p>
            <a:pPr>
              <a:lnSpc>
                <a:spcPct val="103000"/>
              </a:lnSpc>
              <a:spcAft>
                <a:spcPts val="800"/>
              </a:spcAft>
            </a:pPr>
            <a:r>
              <a:rPr sz="1300" b="1">
                <a:solidFill>
                  <a:srgbClr val="1A1D21"/>
                </a:solidFill>
                <a:latin typeface="Calibri"/>
              </a:rPr>
              <a:t>▪  One agent, two channels</a:t>
            </a:r>
            <a:r>
              <a:rPr sz="1300" b="0">
                <a:solidFill>
                  <a:srgbClr val="444B54"/>
                </a:solidFill>
                <a:latin typeface="Calibri"/>
              </a:rPr>
              <a:t> — messaging and voice share the same trusted logic</a:t>
            </a:r>
          </a:p>
        </p:txBody>
      </p:sp>
      <p:sp>
        <p:nvSpPr>
          <p:cNvPr id="14" name="Rectangle 13"/>
          <p:cNvSpPr/>
          <p:nvPr/>
        </p:nvSpPr>
        <p:spPr>
          <a:xfrm>
            <a:off x="6629400" y="4892040"/>
            <a:ext cx="5010912"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4983480"/>
            <a:ext cx="4709160" cy="228600"/>
          </a:xfrm>
          <a:prstGeom prst="rect">
            <a:avLst/>
          </a:prstGeom>
          <a:noFill/>
        </p:spPr>
        <p:txBody>
          <a:bodyPr wrap="square" anchor="t">
            <a:spAutoFit/>
          </a:bodyPr>
          <a:lstStyle/>
          <a:p>
            <a:pPr algn="l">
              <a:lnSpc>
                <a:spcPct val="105000"/>
              </a:lnSpc>
              <a:spcBef>
                <a:spcPts val="0"/>
              </a:spcBef>
              <a:spcAft>
                <a:spcPts val="0"/>
              </a:spcAft>
            </a:pPr>
            <a:r>
              <a:rPr b="1" sz="1000">
                <a:solidFill>
                  <a:srgbClr val="04844B"/>
                </a:solidFill>
                <a:latin typeface="Calibri"/>
              </a:rPr>
              <a:t>TIME SAVED · PER 100 MEMBER CALLS</a:t>
            </a:r>
          </a:p>
        </p:txBody>
      </p:sp>
      <p:sp>
        <p:nvSpPr>
          <p:cNvPr id="17"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8"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16</a:t>
            </a:r>
          </a:p>
        </p:txBody>
      </p:sp>
      <p:sp>
        <p:nvSpPr>
          <p:cNvPr id="19" name="Rectangle 13 Stats"/>
          <p:cNvSpPr/>
          <p:nvPr/>
        </p:nvSpPr>
        <p:spPr>
          <a:xfrm>
            <a:off x="548640" y="4892040"/>
            <a:ext cx="5852160" cy="1143000"/>
          </a:xfrm>
          <a:prstGeom prst="rect">
            <a:avLst/>
          </a:prstGeom>
          <a:solidFill>
            <a:srgbClr val="E3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4 Stats"/>
          <p:cNvSpPr/>
          <p:nvPr/>
        </p:nvSpPr>
        <p:spPr>
          <a:xfrm>
            <a:off x="548640" y="4892040"/>
            <a:ext cx="73152" cy="114300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15 Stats"/>
          <p:cNvSpPr txBox="1"/>
          <p:nvPr/>
        </p:nvSpPr>
        <p:spPr>
          <a:xfrm>
            <a:off x="731520" y="4983480"/>
            <a:ext cx="5533200" cy="1005840"/>
          </a:xfrm>
          <a:prstGeom prst="rect">
            <a:avLst/>
          </a:prstGeom>
          <a:noFill/>
        </p:spPr>
        <p:txBody>
          <a:bodyPr wrap="square" anchor="t">
            <a:spAutoFit/>
          </a:bodyPr>
          <a:lstStyle/>
          <a:p>
            <a:pPr algn="l">
              <a:lnSpc>
                <a:spcPct val="108000"/>
              </a:lnSpc>
              <a:spcBef>
                <a:spcPts val="0"/>
              </a:spcBef>
              <a:spcAft>
                <a:spcPts val="300"/>
              </a:spcAft>
            </a:pPr>
            <a:r>
              <a:rPr b="1" sz="1000">
                <a:solidFill>
                  <a:srgbClr val="04844B"/>
                </a:solidFill>
                <a:latin typeface="Calibri"/>
              </a:rPr>
              <a:t>EXAMPLE INTERACTION</a:t>
            </a:r>
          </a:p>
          <a:p>
            <a:pPr>
              <a:lnSpc>
                <a:spcPct val="108000"/>
              </a:lnSpc>
              <a:spcBef>
                <a:spcPts val="0"/>
              </a:spcBef>
              <a:spcAft>
                <a:spcPts val="300"/>
              </a:spcAft>
            </a:pPr>
            <a:r>
              <a:rPr b="1" sz="1000">
                <a:solidFill>
                  <a:srgbClr val="1A1D21"/>
                </a:solidFill>
                <a:latin typeface="Calibri"/>
              </a:rPr>
              <a:t>Member:  </a:t>
            </a:r>
            <a:r>
              <a:rPr b="0" sz="1000">
                <a:solidFill>
                  <a:srgbClr val="444B54"/>
                </a:solidFill>
                <a:latin typeface="Calibri"/>
              </a:rPr>
              <a:t>“My name is Jane Doe, DOB 1985-04-12, phone 555-987-6543. Why was my last claim denied?”</a:t>
            </a:r>
          </a:p>
          <a:p>
            <a:pPr>
              <a:lnSpc>
                <a:spcPct val="108000"/>
              </a:lnSpc>
              <a:spcBef>
                <a:spcPts val="0"/>
              </a:spcBef>
              <a:spcAft>
                <a:spcPts val="300"/>
              </a:spcAft>
            </a:pPr>
            <a:r>
              <a:rPr b="1" sz="1000">
                <a:solidFill>
                  <a:srgbClr val="1A1D21"/>
                </a:solidFill>
                <a:latin typeface="Calibri"/>
              </a:rPr>
              <a:t>Agent:  </a:t>
            </a:r>
            <a:r>
              <a:rPr b="0" sz="1000">
                <a:solidFill>
                  <a:srgbClr val="444B54"/>
                </a:solidFill>
                <a:latin typeface="Calibri"/>
              </a:rPr>
              <a:t>“Verified — claim CLM-2291 was denied for ‘service not covered under current plan.’” Resolved in ~2 min vs. ~9 min manually.</a:t>
            </a:r>
          </a:p>
        </p:txBody>
      </p:sp>
      <p:graphicFrame>
        <p:nvGraphicFramePr>
          <p:cNvPr id="22" name="Table 21"/>
          <p:cNvGraphicFramePr>
            <a:graphicFrameLocks noGrp="1"/>
          </p:cNvGraphicFramePr>
          <p:nvPr/>
        </p:nvGraphicFramePr>
        <p:xfrm>
          <a:off x="6812280" y="5257800"/>
          <a:ext cx="4709160" cy="548640"/>
        </p:xfrm>
        <a:graphic>
          <a:graphicData uri="http://schemas.openxmlformats.org/drawingml/2006/table">
            <a:tbl>
              <a:tblPr firstRow="1" bandRow="1">
                <a:tableStyleId>{5C22544A-7EE6-4342-B048-85BDC9FD1C3A}</a:tableStyleId>
              </a:tblPr>
              <a:tblGrid>
                <a:gridCol w="1569720"/>
                <a:gridCol w="1569720"/>
                <a:gridCol w="1569720"/>
              </a:tblGrid>
              <a:tr h="256032">
                <a:tc>
                  <a:txBody>
                    <a:bodyPr wrap="square"/>
                    <a:lstStyle/>
                    <a:p>
                      <a:r>
                        <a:rPr b="1" sz="900">
                          <a:solidFill>
                            <a:srgbClr val="04844B"/>
                          </a:solidFill>
                          <a:latin typeface="Calibri"/>
                        </a:rPr>
                        <a:t>Manual</a:t>
                      </a:r>
                    </a:p>
                  </a:txBody>
                  <a:tcPr marL="45720" marR="45720" marT="18288" marB="18288" anchor="ctr">
                    <a:solidFill>
                      <a:srgbClr val="FFFFFF"/>
                    </a:solidFill>
                  </a:tcPr>
                </a:tc>
                <a:tc>
                  <a:txBody>
                    <a:bodyPr wrap="square"/>
                    <a:lstStyle/>
                    <a:p>
                      <a:r>
                        <a:rPr b="1" sz="900">
                          <a:solidFill>
                            <a:srgbClr val="04844B"/>
                          </a:solidFill>
                          <a:latin typeface="Calibri"/>
                        </a:rPr>
                        <a:t>Agentforce</a:t>
                      </a:r>
                    </a:p>
                  </a:txBody>
                  <a:tcPr marL="45720" marR="45720" marT="18288" marB="18288" anchor="ctr">
                    <a:solidFill>
                      <a:srgbClr val="FFFFFF"/>
                    </a:solidFill>
                  </a:tcPr>
                </a:tc>
                <a:tc>
                  <a:txBody>
                    <a:bodyPr wrap="square"/>
                    <a:lstStyle/>
                    <a:p>
                      <a:r>
                        <a:rPr b="1" sz="900">
                          <a:solidFill>
                            <a:srgbClr val="04844B"/>
                          </a:solidFill>
                          <a:latin typeface="Calibri"/>
                        </a:rPr>
                        <a:t>Saved</a:t>
                      </a:r>
                    </a:p>
                  </a:txBody>
                  <a:tcPr marL="45720" marR="45720" marT="18288" marB="18288" anchor="ctr">
                    <a:solidFill>
                      <a:srgbClr val="FFFFFF"/>
                    </a:solidFill>
                  </a:tcPr>
                </a:tc>
              </a:tr>
              <a:tr h="292608">
                <a:tc>
                  <a:txBody>
                    <a:bodyPr wrap="square"/>
                    <a:lstStyle/>
                    <a:p>
                      <a:r>
                        <a:rPr b="0" sz="1100">
                          <a:solidFill>
                            <a:srgbClr val="1A1D21"/>
                          </a:solidFill>
                          <a:latin typeface="Calibri"/>
                        </a:rPr>
                        <a:t>9 min</a:t>
                      </a:r>
                    </a:p>
                  </a:txBody>
                  <a:tcPr marL="45720" marR="45720" marT="18288" marB="18288" anchor="ctr">
                    <a:solidFill>
                      <a:srgbClr val="FFFFFF"/>
                    </a:solidFill>
                  </a:tcPr>
                </a:tc>
                <a:tc>
                  <a:txBody>
                    <a:bodyPr wrap="square"/>
                    <a:lstStyle/>
                    <a:p>
                      <a:r>
                        <a:rPr b="0" sz="1100">
                          <a:solidFill>
                            <a:srgbClr val="1A1D21"/>
                          </a:solidFill>
                          <a:latin typeface="Calibri"/>
                        </a:rPr>
                        <a:t>2 min</a:t>
                      </a:r>
                    </a:p>
                  </a:txBody>
                  <a:tcPr marL="45720" marR="45720" marT="18288" marB="18288" anchor="ctr">
                    <a:solidFill>
                      <a:srgbClr val="FFFFFF"/>
                    </a:solidFill>
                  </a:tcPr>
                </a:tc>
                <a:tc>
                  <a:txBody>
                    <a:bodyPr wrap="square"/>
                    <a:lstStyle/>
                    <a:p>
                      <a:r>
                        <a:rPr b="1" sz="1100">
                          <a:solidFill>
                            <a:srgbClr val="04844B"/>
                          </a:solidFill>
                          <a:latin typeface="Calibri"/>
                        </a:rPr>
                        <a:t>11.7 hrs (78%)</a:t>
                      </a:r>
                    </a:p>
                  </a:txBody>
                  <a:tcPr marL="45720" marR="45720" marT="18288" marB="18288" anchor="ctr">
                    <a:solidFill>
                      <a:srgbClr val="FFFFFF"/>
                    </a:solidFill>
                  </a:tcPr>
                </a:tc>
              </a:tr>
            </a:tbl>
          </a:graphicData>
        </a:graphic>
      </p:graphicFrame>
      <p:sp>
        <p:nvSpPr>
          <p:cNvPr id="23" name="TextBox 22"/>
          <p:cNvSpPr txBox="1"/>
          <p:nvPr/>
        </p:nvSpPr>
        <p:spPr>
          <a:xfrm>
            <a:off x="6812280" y="5852160"/>
            <a:ext cx="4709160" cy="182880"/>
          </a:xfrm>
          <a:prstGeom prst="rect">
            <a:avLst/>
          </a:prstGeom>
          <a:noFill/>
        </p:spPr>
        <p:txBody>
          <a:bodyPr wrap="square">
            <a:spAutoFit/>
          </a:bodyPr>
          <a:lstStyle/>
          <a:p>
            <a:r>
              <a:rPr i="1" sz="900">
                <a:solidFill>
                  <a:srgbClr val="444B54"/>
                </a:solidFill>
                <a:latin typeface="Calibri"/>
              </a:rPr>
              <a:t>*Illustrative estimate — assumptions &amp; full methodology on slide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RETURN ON INVESTMENT</a:t>
            </a:r>
          </a:p>
        </p:txBody>
      </p:sp>
      <p:sp>
        <p:nvSpPr>
          <p:cNvPr id="4"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The time-saved case, at a glance</a:t>
            </a:r>
          </a:p>
        </p:txBody>
      </p:sp>
      <p:sp>
        <p:nvSpPr>
          <p:cNvPr id="5"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6"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17</a:t>
            </a:r>
          </a:p>
        </p:txBody>
      </p:sp>
      <p:graphicFrame>
        <p:nvGraphicFramePr>
          <p:cNvPr id="7" name="Table 6"/>
          <p:cNvGraphicFramePr>
            <a:graphicFrameLocks noGrp="1"/>
          </p:cNvGraphicFramePr>
          <p:nvPr/>
        </p:nvGraphicFramePr>
        <p:xfrm>
          <a:off x="548640" y="1600200"/>
          <a:ext cx="11100816" cy="4705456"/>
        </p:xfrm>
        <a:graphic>
          <a:graphicData uri="http://schemas.openxmlformats.org/drawingml/2006/table">
            <a:tbl>
              <a:tblPr>
                <a:tableStyleId>{5C22544A-7EE6-4342-B048-85BDC9FD1C3A}</a:tableStyleId>
              </a:tblPr>
              <a:tblGrid>
                <a:gridCol w="3136392"/>
                <a:gridCol w="2103120"/>
                <a:gridCol w="2203704"/>
                <a:gridCol w="2304288"/>
                <a:gridCol w="1353312"/>
              </a:tblGrid>
              <a:tr h="336104">
                <a:tc>
                  <a:txBody>
                    <a:bodyPr wrap="square"/>
                    <a:lstStyle/>
                    <a:p>
                      <a:pPr/>
                      <a:r>
                        <a:rPr b="1" sz="1200">
                          <a:solidFill>
                            <a:srgbClr val="FFFFFF"/>
                          </a:solidFill>
                          <a:latin typeface="Calibri"/>
                        </a:rPr>
                        <a:t>Agent</a:t>
                      </a:r>
                    </a:p>
                  </a:txBody>
                  <a:tcPr marL="91440" marR="91440" marT="36576" marB="36576" anchor="ctr">
                    <a:solidFill>
                      <a:srgbClr val="032D60"/>
                    </a:solidFill>
                  </a:tcPr>
                </a:tc>
                <a:tc>
                  <a:txBody>
                    <a:bodyPr wrap="square"/>
                    <a:lstStyle/>
                    <a:p>
                      <a:pPr/>
                      <a:r>
                        <a:rPr b="1" sz="1200">
                          <a:solidFill>
                            <a:srgbClr val="FFFFFF"/>
                          </a:solidFill>
                          <a:latin typeface="Calibri"/>
                        </a:rPr>
                        <a:t>Manual (per interaction)</a:t>
                      </a:r>
                    </a:p>
                  </a:txBody>
                  <a:tcPr marL="91440" marR="91440" marT="36576" marB="36576" anchor="ctr">
                    <a:solidFill>
                      <a:srgbClr val="032D60"/>
                    </a:solidFill>
                  </a:tcPr>
                </a:tc>
                <a:tc>
                  <a:txBody>
                    <a:bodyPr wrap="square"/>
                    <a:lstStyle/>
                    <a:p>
                      <a:pPr/>
                      <a:r>
                        <a:rPr b="1" sz="1200">
                          <a:solidFill>
                            <a:srgbClr val="FFFFFF"/>
                          </a:solidFill>
                          <a:latin typeface="Calibri"/>
                        </a:rPr>
                        <a:t>Agentforce (per interaction)</a:t>
                      </a:r>
                    </a:p>
                  </a:txBody>
                  <a:tcPr marL="91440" marR="91440" marT="36576" marB="36576" anchor="ctr">
                    <a:solidFill>
                      <a:srgbClr val="032D60"/>
                    </a:solidFill>
                  </a:tcPr>
                </a:tc>
                <a:tc>
                  <a:txBody>
                    <a:bodyPr wrap="square"/>
                    <a:lstStyle/>
                    <a:p>
                      <a:pPr/>
                      <a:r>
                        <a:rPr b="1" sz="1200">
                          <a:solidFill>
                            <a:srgbClr val="FFFFFF"/>
                          </a:solidFill>
                          <a:latin typeface="Calibri"/>
                        </a:rPr>
                        <a:t>Time saved (per 100)</a:t>
                      </a:r>
                    </a:p>
                  </a:txBody>
                  <a:tcPr marL="91440" marR="91440" marT="36576" marB="36576" anchor="ctr">
                    <a:solidFill>
                      <a:srgbClr val="032D60"/>
                    </a:solidFill>
                  </a:tcPr>
                </a:tc>
                <a:tc>
                  <a:txBody>
                    <a:bodyPr wrap="square"/>
                    <a:lstStyle/>
                    <a:p>
                      <a:pPr/>
                      <a:r>
                        <a:rPr b="1" sz="1200">
                          <a:solidFill>
                            <a:srgbClr val="FFFFFF"/>
                          </a:solidFill>
                          <a:latin typeface="Calibri"/>
                        </a:rPr>
                        <a:t>Faster by</a:t>
                      </a:r>
                    </a:p>
                  </a:txBody>
                  <a:tcPr marL="91440" marR="91440" marT="36576" marB="36576" anchor="ctr">
                    <a:solidFill>
                      <a:srgbClr val="032D60"/>
                    </a:solidFill>
                  </a:tcPr>
                </a:tc>
              </a:tr>
              <a:tr h="336104">
                <a:tc>
                  <a:txBody>
                    <a:bodyPr wrap="square"/>
                    <a:lstStyle/>
                    <a:p>
                      <a:pPr/>
                      <a:r>
                        <a:rPr b="1" sz="1200">
                          <a:solidFill>
                            <a:srgbClr val="1A1D21"/>
                          </a:solidFill>
                          <a:latin typeface="Calibri"/>
                        </a:rPr>
                        <a:t>Provider Contract Inquiry</a:t>
                      </a:r>
                    </a:p>
                  </a:txBody>
                  <a:tcPr marL="91440" marR="91440" marT="36576" marB="36576" anchor="ctr">
                    <a:solidFill>
                      <a:srgbClr val="FFFFFF"/>
                    </a:solidFill>
                  </a:tcPr>
                </a:tc>
                <a:tc>
                  <a:txBody>
                    <a:bodyPr wrap="square"/>
                    <a:lstStyle/>
                    <a:p>
                      <a:pPr/>
                      <a:r>
                        <a:rPr b="0" sz="1200">
                          <a:solidFill>
                            <a:srgbClr val="444B54"/>
                          </a:solidFill>
                          <a:latin typeface="Calibri"/>
                        </a:rPr>
                        <a:t>~9 min</a:t>
                      </a:r>
                    </a:p>
                  </a:txBody>
                  <a:tcPr marL="91440" marR="91440" marT="36576" marB="36576" anchor="ctr">
                    <a:solidFill>
                      <a:srgbClr val="FFFFFF"/>
                    </a:solidFill>
                  </a:tcPr>
                </a:tc>
                <a:tc>
                  <a:txBody>
                    <a:bodyPr wrap="square"/>
                    <a:lstStyle/>
                    <a:p>
                      <a:pPr/>
                      <a:r>
                        <a:rPr b="0" sz="1200">
                          <a:solidFill>
                            <a:srgbClr val="444B54"/>
                          </a:solidFill>
                          <a:latin typeface="Calibri"/>
                        </a:rPr>
                        <a:t>~1 min</a:t>
                      </a:r>
                    </a:p>
                  </a:txBody>
                  <a:tcPr marL="91440" marR="91440" marT="36576" marB="36576" anchor="ctr">
                    <a:solidFill>
                      <a:srgbClr val="FFFFFF"/>
                    </a:solidFill>
                  </a:tcPr>
                </a:tc>
                <a:tc>
                  <a:txBody>
                    <a:bodyPr wrap="square"/>
                    <a:lstStyle/>
                    <a:p>
                      <a:pPr/>
                      <a:r>
                        <a:rPr b="0" sz="1200">
                          <a:solidFill>
                            <a:srgbClr val="444B54"/>
                          </a:solidFill>
                          <a:latin typeface="Calibri"/>
                        </a:rPr>
                        <a:t>13.3 hrs</a:t>
                      </a:r>
                    </a:p>
                  </a:txBody>
                  <a:tcPr marL="91440" marR="91440" marT="36576" marB="36576" anchor="ctr">
                    <a:solidFill>
                      <a:srgbClr val="FFFFFF"/>
                    </a:solidFill>
                  </a:tcPr>
                </a:tc>
                <a:tc>
                  <a:txBody>
                    <a:bodyPr wrap="square"/>
                    <a:lstStyle/>
                    <a:p>
                      <a:pPr/>
                      <a:r>
                        <a:rPr b="0" sz="1200">
                          <a:solidFill>
                            <a:srgbClr val="444B54"/>
                          </a:solidFill>
                          <a:latin typeface="Calibri"/>
                        </a:rPr>
                        <a:t>89%</a:t>
                      </a:r>
                    </a:p>
                  </a:txBody>
                  <a:tcPr marL="91440" marR="91440" marT="36576" marB="36576" anchor="ctr">
                    <a:solidFill>
                      <a:srgbClr val="FFFFFF"/>
                    </a:solidFill>
                  </a:tcPr>
                </a:tc>
              </a:tr>
              <a:tr h="336104">
                <a:tc>
                  <a:txBody>
                    <a:bodyPr wrap="square"/>
                    <a:lstStyle/>
                    <a:p>
                      <a:pPr/>
                      <a:r>
                        <a:rPr b="1" sz="1200">
                          <a:solidFill>
                            <a:srgbClr val="1A1D21"/>
                          </a:solidFill>
                          <a:latin typeface="Calibri"/>
                        </a:rPr>
                        <a:t>Enrollment Service (Member)</a:t>
                      </a:r>
                    </a:p>
                  </a:txBody>
                  <a:tcPr marL="91440" marR="91440" marT="36576" marB="36576" anchor="ctr">
                    <a:solidFill>
                      <a:srgbClr val="F3F5F8"/>
                    </a:solidFill>
                  </a:tcPr>
                </a:tc>
                <a:tc>
                  <a:txBody>
                    <a:bodyPr wrap="square"/>
                    <a:lstStyle/>
                    <a:p>
                      <a:pPr/>
                      <a:r>
                        <a:rPr b="0" sz="1200">
                          <a:solidFill>
                            <a:srgbClr val="444B54"/>
                          </a:solidFill>
                          <a:latin typeface="Calibri"/>
                        </a:rPr>
                        <a:t>~14 min</a:t>
                      </a:r>
                    </a:p>
                  </a:txBody>
                  <a:tcPr marL="91440" marR="91440" marT="36576" marB="36576" anchor="ctr">
                    <a:solidFill>
                      <a:srgbClr val="F3F5F8"/>
                    </a:solidFill>
                  </a:tcPr>
                </a:tc>
                <a:tc>
                  <a:txBody>
                    <a:bodyPr wrap="square"/>
                    <a:lstStyle/>
                    <a:p>
                      <a:pPr/>
                      <a:r>
                        <a:rPr b="0" sz="1200">
                          <a:solidFill>
                            <a:srgbClr val="444B54"/>
                          </a:solidFill>
                          <a:latin typeface="Calibri"/>
                        </a:rPr>
                        <a:t>~4 min</a:t>
                      </a:r>
                    </a:p>
                  </a:txBody>
                  <a:tcPr marL="91440" marR="91440" marT="36576" marB="36576" anchor="ctr">
                    <a:solidFill>
                      <a:srgbClr val="F3F5F8"/>
                    </a:solidFill>
                  </a:tcPr>
                </a:tc>
                <a:tc>
                  <a:txBody>
                    <a:bodyPr wrap="square"/>
                    <a:lstStyle/>
                    <a:p>
                      <a:pPr/>
                      <a:r>
                        <a:rPr b="0" sz="1200">
                          <a:solidFill>
                            <a:srgbClr val="444B54"/>
                          </a:solidFill>
                          <a:latin typeface="Calibri"/>
                        </a:rPr>
                        <a:t>16.7 hrs</a:t>
                      </a:r>
                    </a:p>
                  </a:txBody>
                  <a:tcPr marL="91440" marR="91440" marT="36576" marB="36576" anchor="ctr">
                    <a:solidFill>
                      <a:srgbClr val="F3F5F8"/>
                    </a:solidFill>
                  </a:tcPr>
                </a:tc>
                <a:tc>
                  <a:txBody>
                    <a:bodyPr wrap="square"/>
                    <a:lstStyle/>
                    <a:p>
                      <a:pPr/>
                      <a:r>
                        <a:rPr b="0" sz="1200">
                          <a:solidFill>
                            <a:srgbClr val="444B54"/>
                          </a:solidFill>
                          <a:latin typeface="Calibri"/>
                        </a:rPr>
                        <a:t>71%</a:t>
                      </a:r>
                    </a:p>
                  </a:txBody>
                  <a:tcPr marL="91440" marR="91440" marT="36576" marB="36576" anchor="ctr">
                    <a:solidFill>
                      <a:srgbClr val="F3F5F8"/>
                    </a:solidFill>
                  </a:tcPr>
                </a:tc>
              </a:tr>
              <a:tr h="336104">
                <a:tc>
                  <a:txBody>
                    <a:bodyPr wrap="square"/>
                    <a:lstStyle/>
                    <a:p>
                      <a:pPr/>
                      <a:r>
                        <a:rPr b="1" sz="1200">
                          <a:solidFill>
                            <a:srgbClr val="1A1D21"/>
                          </a:solidFill>
                          <a:latin typeface="Calibri"/>
                        </a:rPr>
                        <a:t>Provider Search &amp; Profile</a:t>
                      </a:r>
                    </a:p>
                  </a:txBody>
                  <a:tcPr marL="91440" marR="91440" marT="36576" marB="36576" anchor="ctr">
                    <a:solidFill>
                      <a:srgbClr val="FFFFFF"/>
                    </a:solidFill>
                  </a:tcPr>
                </a:tc>
                <a:tc>
                  <a:txBody>
                    <a:bodyPr wrap="square"/>
                    <a:lstStyle/>
                    <a:p>
                      <a:pPr/>
                      <a:r>
                        <a:rPr b="0" sz="1200">
                          <a:solidFill>
                            <a:srgbClr val="444B54"/>
                          </a:solidFill>
                          <a:latin typeface="Calibri"/>
                        </a:rPr>
                        <a:t>~11 min</a:t>
                      </a:r>
                    </a:p>
                  </a:txBody>
                  <a:tcPr marL="91440" marR="91440" marT="36576" marB="36576" anchor="ctr">
                    <a:solidFill>
                      <a:srgbClr val="FFFFFF"/>
                    </a:solidFill>
                  </a:tcPr>
                </a:tc>
                <a:tc>
                  <a:txBody>
                    <a:bodyPr wrap="square"/>
                    <a:lstStyle/>
                    <a:p>
                      <a:pPr/>
                      <a:r>
                        <a:rPr b="0" sz="1200">
                          <a:solidFill>
                            <a:srgbClr val="444B54"/>
                          </a:solidFill>
                          <a:latin typeface="Calibri"/>
                        </a:rPr>
                        <a:t>~1.5 min</a:t>
                      </a:r>
                    </a:p>
                  </a:txBody>
                  <a:tcPr marL="91440" marR="91440" marT="36576" marB="36576" anchor="ctr">
                    <a:solidFill>
                      <a:srgbClr val="FFFFFF"/>
                    </a:solidFill>
                  </a:tcPr>
                </a:tc>
                <a:tc>
                  <a:txBody>
                    <a:bodyPr wrap="square"/>
                    <a:lstStyle/>
                    <a:p>
                      <a:pPr/>
                      <a:r>
                        <a:rPr b="0" sz="1200">
                          <a:solidFill>
                            <a:srgbClr val="444B54"/>
                          </a:solidFill>
                          <a:latin typeface="Calibri"/>
                        </a:rPr>
                        <a:t>15.8 hrs</a:t>
                      </a:r>
                    </a:p>
                  </a:txBody>
                  <a:tcPr marL="91440" marR="91440" marT="36576" marB="36576" anchor="ctr">
                    <a:solidFill>
                      <a:srgbClr val="FFFFFF"/>
                    </a:solidFill>
                  </a:tcPr>
                </a:tc>
                <a:tc>
                  <a:txBody>
                    <a:bodyPr wrap="square"/>
                    <a:lstStyle/>
                    <a:p>
                      <a:pPr/>
                      <a:r>
                        <a:rPr b="0" sz="1200">
                          <a:solidFill>
                            <a:srgbClr val="444B54"/>
                          </a:solidFill>
                          <a:latin typeface="Calibri"/>
                        </a:rPr>
                        <a:t>86%</a:t>
                      </a:r>
                    </a:p>
                  </a:txBody>
                  <a:tcPr marL="91440" marR="91440" marT="36576" marB="36576" anchor="ctr">
                    <a:solidFill>
                      <a:srgbClr val="FFFFFF"/>
                    </a:solidFill>
                  </a:tcPr>
                </a:tc>
              </a:tr>
              <a:tr h="336104">
                <a:tc>
                  <a:txBody>
                    <a:bodyPr wrap="square"/>
                    <a:lstStyle/>
                    <a:p>
                      <a:pPr/>
                      <a:r>
                        <a:rPr b="1" sz="1200">
                          <a:solidFill>
                            <a:srgbClr val="1A1D21"/>
                          </a:solidFill>
                          <a:latin typeface="Calibri"/>
                        </a:rPr>
                        <a:t>Provider Network Inquiries</a:t>
                      </a:r>
                    </a:p>
                  </a:txBody>
                  <a:tcPr marL="91440" marR="91440" marT="36576" marB="36576" anchor="ctr">
                    <a:solidFill>
                      <a:srgbClr val="F3F5F8"/>
                    </a:solidFill>
                  </a:tcPr>
                </a:tc>
                <a:tc>
                  <a:txBody>
                    <a:bodyPr wrap="square"/>
                    <a:lstStyle/>
                    <a:p>
                      <a:pPr/>
                      <a:r>
                        <a:rPr b="0" sz="1200">
                          <a:solidFill>
                            <a:srgbClr val="444B54"/>
                          </a:solidFill>
                          <a:latin typeface="Calibri"/>
                        </a:rPr>
                        <a:t>~7 min</a:t>
                      </a:r>
                    </a:p>
                  </a:txBody>
                  <a:tcPr marL="91440" marR="91440" marT="36576" marB="36576" anchor="ctr">
                    <a:solidFill>
                      <a:srgbClr val="F3F5F8"/>
                    </a:solidFill>
                  </a:tcPr>
                </a:tc>
                <a:tc>
                  <a:txBody>
                    <a:bodyPr wrap="square"/>
                    <a:lstStyle/>
                    <a:p>
                      <a:pPr/>
                      <a:r>
                        <a:rPr b="0" sz="1200">
                          <a:solidFill>
                            <a:srgbClr val="444B54"/>
                          </a:solidFill>
                          <a:latin typeface="Calibri"/>
                        </a:rPr>
                        <a:t>~2 min</a:t>
                      </a:r>
                    </a:p>
                  </a:txBody>
                  <a:tcPr marL="91440" marR="91440" marT="36576" marB="36576" anchor="ctr">
                    <a:solidFill>
                      <a:srgbClr val="F3F5F8"/>
                    </a:solidFill>
                  </a:tcPr>
                </a:tc>
                <a:tc>
                  <a:txBody>
                    <a:bodyPr wrap="square"/>
                    <a:lstStyle/>
                    <a:p>
                      <a:pPr/>
                      <a:r>
                        <a:rPr b="0" sz="1200">
                          <a:solidFill>
                            <a:srgbClr val="444B54"/>
                          </a:solidFill>
                          <a:latin typeface="Calibri"/>
                        </a:rPr>
                        <a:t>8.3 hrs</a:t>
                      </a:r>
                    </a:p>
                  </a:txBody>
                  <a:tcPr marL="91440" marR="91440" marT="36576" marB="36576" anchor="ctr">
                    <a:solidFill>
                      <a:srgbClr val="F3F5F8"/>
                    </a:solidFill>
                  </a:tcPr>
                </a:tc>
                <a:tc>
                  <a:txBody>
                    <a:bodyPr wrap="square"/>
                    <a:lstStyle/>
                    <a:p>
                      <a:pPr/>
                      <a:r>
                        <a:rPr b="0" sz="1200">
                          <a:solidFill>
                            <a:srgbClr val="444B54"/>
                          </a:solidFill>
                          <a:latin typeface="Calibri"/>
                        </a:rPr>
                        <a:t>71%</a:t>
                      </a:r>
                    </a:p>
                  </a:txBody>
                  <a:tcPr marL="91440" marR="91440" marT="36576" marB="36576" anchor="ctr">
                    <a:solidFill>
                      <a:srgbClr val="F3F5F8"/>
                    </a:solidFill>
                  </a:tcPr>
                </a:tc>
              </a:tr>
              <a:tr h="336104">
                <a:tc>
                  <a:txBody>
                    <a:bodyPr wrap="square"/>
                    <a:lstStyle/>
                    <a:p>
                      <a:pPr/>
                      <a:r>
                        <a:rPr b="1" sz="1200">
                          <a:solidFill>
                            <a:srgbClr val="1A1D21"/>
                          </a:solidFill>
                          <a:latin typeface="Calibri"/>
                        </a:rPr>
                        <a:t>Employer Group Support</a:t>
                      </a:r>
                    </a:p>
                  </a:txBody>
                  <a:tcPr marL="91440" marR="91440" marT="36576" marB="36576" anchor="ctr">
                    <a:solidFill>
                      <a:srgbClr val="FFFFFF"/>
                    </a:solidFill>
                  </a:tcPr>
                </a:tc>
                <a:tc>
                  <a:txBody>
                    <a:bodyPr wrap="square"/>
                    <a:lstStyle/>
                    <a:p>
                      <a:pPr/>
                      <a:r>
                        <a:rPr b="0" sz="1200">
                          <a:solidFill>
                            <a:srgbClr val="444B54"/>
                          </a:solidFill>
                          <a:latin typeface="Calibri"/>
                        </a:rPr>
                        <a:t>~16 min</a:t>
                      </a:r>
                    </a:p>
                  </a:txBody>
                  <a:tcPr marL="91440" marR="91440" marT="36576" marB="36576" anchor="ctr">
                    <a:solidFill>
                      <a:srgbClr val="FFFFFF"/>
                    </a:solidFill>
                  </a:tcPr>
                </a:tc>
                <a:tc>
                  <a:txBody>
                    <a:bodyPr wrap="square"/>
                    <a:lstStyle/>
                    <a:p>
                      <a:pPr/>
                      <a:r>
                        <a:rPr b="0" sz="1200">
                          <a:solidFill>
                            <a:srgbClr val="444B54"/>
                          </a:solidFill>
                          <a:latin typeface="Calibri"/>
                        </a:rPr>
                        <a:t>~4 min</a:t>
                      </a:r>
                    </a:p>
                  </a:txBody>
                  <a:tcPr marL="91440" marR="91440" marT="36576" marB="36576" anchor="ctr">
                    <a:solidFill>
                      <a:srgbClr val="FFFFFF"/>
                    </a:solidFill>
                  </a:tcPr>
                </a:tc>
                <a:tc>
                  <a:txBody>
                    <a:bodyPr wrap="square"/>
                    <a:lstStyle/>
                    <a:p>
                      <a:pPr/>
                      <a:r>
                        <a:rPr b="0" sz="1200">
                          <a:solidFill>
                            <a:srgbClr val="444B54"/>
                          </a:solidFill>
                          <a:latin typeface="Calibri"/>
                        </a:rPr>
                        <a:t>20.0 hrs</a:t>
                      </a:r>
                    </a:p>
                  </a:txBody>
                  <a:tcPr marL="91440" marR="91440" marT="36576" marB="36576" anchor="ctr">
                    <a:solidFill>
                      <a:srgbClr val="FFFFFF"/>
                    </a:solidFill>
                  </a:tcPr>
                </a:tc>
                <a:tc>
                  <a:txBody>
                    <a:bodyPr wrap="square"/>
                    <a:lstStyle/>
                    <a:p>
                      <a:pPr/>
                      <a:r>
                        <a:rPr b="0" sz="1200">
                          <a:solidFill>
                            <a:srgbClr val="444B54"/>
                          </a:solidFill>
                          <a:latin typeface="Calibri"/>
                        </a:rPr>
                        <a:t>75%</a:t>
                      </a:r>
                    </a:p>
                  </a:txBody>
                  <a:tcPr marL="91440" marR="91440" marT="36576" marB="36576" anchor="ctr">
                    <a:solidFill>
                      <a:srgbClr val="FFFFFF"/>
                    </a:solidFill>
                  </a:tcPr>
                </a:tc>
              </a:tr>
              <a:tr h="336104">
                <a:tc>
                  <a:txBody>
                    <a:bodyPr wrap="square"/>
                    <a:lstStyle/>
                    <a:p>
                      <a:pPr/>
                      <a:r>
                        <a:rPr b="1" sz="1200">
                          <a:solidFill>
                            <a:srgbClr val="1A1D21"/>
                          </a:solidFill>
                          <a:latin typeface="Calibri"/>
                        </a:rPr>
                        <a:t>Provider Enrollment</a:t>
                      </a:r>
                    </a:p>
                  </a:txBody>
                  <a:tcPr marL="91440" marR="91440" marT="36576" marB="36576" anchor="ctr">
                    <a:solidFill>
                      <a:srgbClr val="F3F5F8"/>
                    </a:solidFill>
                  </a:tcPr>
                </a:tc>
                <a:tc>
                  <a:txBody>
                    <a:bodyPr wrap="square"/>
                    <a:lstStyle/>
                    <a:p>
                      <a:pPr/>
                      <a:r>
                        <a:rPr b="0" sz="1200">
                          <a:solidFill>
                            <a:srgbClr val="444B54"/>
                          </a:solidFill>
                          <a:latin typeface="Calibri"/>
                        </a:rPr>
                        <a:t>~28 min</a:t>
                      </a:r>
                    </a:p>
                  </a:txBody>
                  <a:tcPr marL="91440" marR="91440" marT="36576" marB="36576" anchor="ctr">
                    <a:solidFill>
                      <a:srgbClr val="F3F5F8"/>
                    </a:solidFill>
                  </a:tcPr>
                </a:tc>
                <a:tc>
                  <a:txBody>
                    <a:bodyPr wrap="square"/>
                    <a:lstStyle/>
                    <a:p>
                      <a:pPr/>
                      <a:r>
                        <a:rPr b="0" sz="1200">
                          <a:solidFill>
                            <a:srgbClr val="444B54"/>
                          </a:solidFill>
                          <a:latin typeface="Calibri"/>
                        </a:rPr>
                        <a:t>~8 min</a:t>
                      </a:r>
                    </a:p>
                  </a:txBody>
                  <a:tcPr marL="91440" marR="91440" marT="36576" marB="36576" anchor="ctr">
                    <a:solidFill>
                      <a:srgbClr val="F3F5F8"/>
                    </a:solidFill>
                  </a:tcPr>
                </a:tc>
                <a:tc>
                  <a:txBody>
                    <a:bodyPr wrap="square"/>
                    <a:lstStyle/>
                    <a:p>
                      <a:pPr/>
                      <a:r>
                        <a:rPr b="0" sz="1200">
                          <a:solidFill>
                            <a:srgbClr val="444B54"/>
                          </a:solidFill>
                          <a:latin typeface="Calibri"/>
                        </a:rPr>
                        <a:t>33.3 hrs</a:t>
                      </a:r>
                    </a:p>
                  </a:txBody>
                  <a:tcPr marL="91440" marR="91440" marT="36576" marB="36576" anchor="ctr">
                    <a:solidFill>
                      <a:srgbClr val="F3F5F8"/>
                    </a:solidFill>
                  </a:tcPr>
                </a:tc>
                <a:tc>
                  <a:txBody>
                    <a:bodyPr wrap="square"/>
                    <a:lstStyle/>
                    <a:p>
                      <a:pPr/>
                      <a:r>
                        <a:rPr b="0" sz="1200">
                          <a:solidFill>
                            <a:srgbClr val="444B54"/>
                          </a:solidFill>
                          <a:latin typeface="Calibri"/>
                        </a:rPr>
                        <a:t>71%</a:t>
                      </a:r>
                    </a:p>
                  </a:txBody>
                  <a:tcPr marL="91440" marR="91440" marT="36576" marB="36576" anchor="ctr">
                    <a:solidFill>
                      <a:srgbClr val="F3F5F8"/>
                    </a:solidFill>
                  </a:tcPr>
                </a:tc>
              </a:tr>
              <a:tr h="336104">
                <a:tc>
                  <a:txBody>
                    <a:bodyPr wrap="square"/>
                    <a:lstStyle/>
                    <a:p>
                      <a:pPr/>
                      <a:r>
                        <a:rPr b="1" sz="1200">
                          <a:solidFill>
                            <a:srgbClr val="1A1D21"/>
                          </a:solidFill>
                          <a:latin typeface="Calibri"/>
                        </a:rPr>
                        <a:t>Credentialing Status</a:t>
                      </a:r>
                    </a:p>
                  </a:txBody>
                  <a:tcPr marL="91440" marR="91440" marT="36576" marB="36576" anchor="ctr">
                    <a:solidFill>
                      <a:srgbClr val="FFFFFF"/>
                    </a:solidFill>
                  </a:tcPr>
                </a:tc>
                <a:tc>
                  <a:txBody>
                    <a:bodyPr wrap="square"/>
                    <a:lstStyle/>
                    <a:p>
                      <a:pPr/>
                      <a:r>
                        <a:rPr b="0" sz="1200">
                          <a:solidFill>
                            <a:srgbClr val="444B54"/>
                          </a:solidFill>
                          <a:latin typeface="Calibri"/>
                        </a:rPr>
                        <a:t>~10 min</a:t>
                      </a:r>
                    </a:p>
                  </a:txBody>
                  <a:tcPr marL="91440" marR="91440" marT="36576" marB="36576" anchor="ctr">
                    <a:solidFill>
                      <a:srgbClr val="FFFFFF"/>
                    </a:solidFill>
                  </a:tcPr>
                </a:tc>
                <a:tc>
                  <a:txBody>
                    <a:bodyPr wrap="square"/>
                    <a:lstStyle/>
                    <a:p>
                      <a:pPr/>
                      <a:r>
                        <a:rPr b="0" sz="1200">
                          <a:solidFill>
                            <a:srgbClr val="444B54"/>
                          </a:solidFill>
                          <a:latin typeface="Calibri"/>
                        </a:rPr>
                        <a:t>~2 min</a:t>
                      </a:r>
                    </a:p>
                  </a:txBody>
                  <a:tcPr marL="91440" marR="91440" marT="36576" marB="36576" anchor="ctr">
                    <a:solidFill>
                      <a:srgbClr val="FFFFFF"/>
                    </a:solidFill>
                  </a:tcPr>
                </a:tc>
                <a:tc>
                  <a:txBody>
                    <a:bodyPr wrap="square"/>
                    <a:lstStyle/>
                    <a:p>
                      <a:pPr/>
                      <a:r>
                        <a:rPr b="0" sz="1200">
                          <a:solidFill>
                            <a:srgbClr val="444B54"/>
                          </a:solidFill>
                          <a:latin typeface="Calibri"/>
                        </a:rPr>
                        <a:t>13.3 hrs</a:t>
                      </a:r>
                    </a:p>
                  </a:txBody>
                  <a:tcPr marL="91440" marR="91440" marT="36576" marB="36576" anchor="ctr">
                    <a:solidFill>
                      <a:srgbClr val="FFFFFF"/>
                    </a:solidFill>
                  </a:tcPr>
                </a:tc>
                <a:tc>
                  <a:txBody>
                    <a:bodyPr wrap="square"/>
                    <a:lstStyle/>
                    <a:p>
                      <a:pPr/>
                      <a:r>
                        <a:rPr b="0" sz="1200">
                          <a:solidFill>
                            <a:srgbClr val="444B54"/>
                          </a:solidFill>
                          <a:latin typeface="Calibri"/>
                        </a:rPr>
                        <a:t>80%</a:t>
                      </a:r>
                    </a:p>
                  </a:txBody>
                  <a:tcPr marL="91440" marR="91440" marT="36576" marB="36576" anchor="ctr">
                    <a:solidFill>
                      <a:srgbClr val="FFFFFF"/>
                    </a:solidFill>
                  </a:tcPr>
                </a:tc>
              </a:tr>
              <a:tr h="336104">
                <a:tc>
                  <a:txBody>
                    <a:bodyPr wrap="square"/>
                    <a:lstStyle/>
                    <a:p>
                      <a:pPr/>
                      <a:r>
                        <a:rPr b="1" sz="1200">
                          <a:solidFill>
                            <a:srgbClr val="1A1D21"/>
                          </a:solidFill>
                          <a:latin typeface="Calibri"/>
                        </a:rPr>
                        <a:t>Network Participation Verification</a:t>
                      </a:r>
                    </a:p>
                  </a:txBody>
                  <a:tcPr marL="91440" marR="91440" marT="36576" marB="36576" anchor="ctr">
                    <a:solidFill>
                      <a:srgbClr val="F3F5F8"/>
                    </a:solidFill>
                  </a:tcPr>
                </a:tc>
                <a:tc>
                  <a:txBody>
                    <a:bodyPr wrap="square"/>
                    <a:lstStyle/>
                    <a:p>
                      <a:pPr/>
                      <a:r>
                        <a:rPr b="0" sz="1200">
                          <a:solidFill>
                            <a:srgbClr val="444B54"/>
                          </a:solidFill>
                          <a:latin typeface="Calibri"/>
                        </a:rPr>
                        <a:t>~8 min</a:t>
                      </a:r>
                    </a:p>
                  </a:txBody>
                  <a:tcPr marL="91440" marR="91440" marT="36576" marB="36576" anchor="ctr">
                    <a:solidFill>
                      <a:srgbClr val="F3F5F8"/>
                    </a:solidFill>
                  </a:tcPr>
                </a:tc>
                <a:tc>
                  <a:txBody>
                    <a:bodyPr wrap="square"/>
                    <a:lstStyle/>
                    <a:p>
                      <a:pPr/>
                      <a:r>
                        <a:rPr b="0" sz="1200">
                          <a:solidFill>
                            <a:srgbClr val="444B54"/>
                          </a:solidFill>
                          <a:latin typeface="Calibri"/>
                        </a:rPr>
                        <a:t>~1.5 min</a:t>
                      </a:r>
                    </a:p>
                  </a:txBody>
                  <a:tcPr marL="91440" marR="91440" marT="36576" marB="36576" anchor="ctr">
                    <a:solidFill>
                      <a:srgbClr val="F3F5F8"/>
                    </a:solidFill>
                  </a:tcPr>
                </a:tc>
                <a:tc>
                  <a:txBody>
                    <a:bodyPr wrap="square"/>
                    <a:lstStyle/>
                    <a:p>
                      <a:pPr/>
                      <a:r>
                        <a:rPr b="0" sz="1200">
                          <a:solidFill>
                            <a:srgbClr val="444B54"/>
                          </a:solidFill>
                          <a:latin typeface="Calibri"/>
                        </a:rPr>
                        <a:t>10.8 hrs</a:t>
                      </a:r>
                    </a:p>
                  </a:txBody>
                  <a:tcPr marL="91440" marR="91440" marT="36576" marB="36576" anchor="ctr">
                    <a:solidFill>
                      <a:srgbClr val="F3F5F8"/>
                    </a:solidFill>
                  </a:tcPr>
                </a:tc>
                <a:tc>
                  <a:txBody>
                    <a:bodyPr wrap="square"/>
                    <a:lstStyle/>
                    <a:p>
                      <a:pPr/>
                      <a:r>
                        <a:rPr b="0" sz="1200">
                          <a:solidFill>
                            <a:srgbClr val="444B54"/>
                          </a:solidFill>
                          <a:latin typeface="Calibri"/>
                        </a:rPr>
                        <a:t>81%</a:t>
                      </a:r>
                    </a:p>
                  </a:txBody>
                  <a:tcPr marL="91440" marR="91440" marT="36576" marB="36576" anchor="ctr">
                    <a:solidFill>
                      <a:srgbClr val="F3F5F8"/>
                    </a:solidFill>
                  </a:tcPr>
                </a:tc>
              </a:tr>
              <a:tr h="336104">
                <a:tc>
                  <a:txBody>
                    <a:bodyPr wrap="square"/>
                    <a:lstStyle/>
                    <a:p>
                      <a:pPr/>
                      <a:r>
                        <a:rPr b="1" sz="1200">
                          <a:solidFill>
                            <a:srgbClr val="1A1D21"/>
                          </a:solidFill>
                          <a:latin typeface="Calibri"/>
                        </a:rPr>
                        <a:t>Provider Claims Assistance</a:t>
                      </a:r>
                    </a:p>
                  </a:txBody>
                  <a:tcPr marL="91440" marR="91440" marT="36576" marB="36576" anchor="ctr">
                    <a:solidFill>
                      <a:srgbClr val="FFFFFF"/>
                    </a:solidFill>
                  </a:tcPr>
                </a:tc>
                <a:tc>
                  <a:txBody>
                    <a:bodyPr wrap="square"/>
                    <a:lstStyle/>
                    <a:p>
                      <a:pPr/>
                      <a:r>
                        <a:rPr b="0" sz="1200">
                          <a:solidFill>
                            <a:srgbClr val="444B54"/>
                          </a:solidFill>
                          <a:latin typeface="Calibri"/>
                        </a:rPr>
                        <a:t>~6 min</a:t>
                      </a:r>
                    </a:p>
                  </a:txBody>
                  <a:tcPr marL="91440" marR="91440" marT="36576" marB="36576" anchor="ctr">
                    <a:solidFill>
                      <a:srgbClr val="FFFFFF"/>
                    </a:solidFill>
                  </a:tcPr>
                </a:tc>
                <a:tc>
                  <a:txBody>
                    <a:bodyPr wrap="square"/>
                    <a:lstStyle/>
                    <a:p>
                      <a:pPr/>
                      <a:r>
                        <a:rPr b="0" sz="1200">
                          <a:solidFill>
                            <a:srgbClr val="444B54"/>
                          </a:solidFill>
                          <a:latin typeface="Calibri"/>
                        </a:rPr>
                        <a:t>~1 min</a:t>
                      </a:r>
                    </a:p>
                  </a:txBody>
                  <a:tcPr marL="91440" marR="91440" marT="36576" marB="36576" anchor="ctr">
                    <a:solidFill>
                      <a:srgbClr val="FFFFFF"/>
                    </a:solidFill>
                  </a:tcPr>
                </a:tc>
                <a:tc>
                  <a:txBody>
                    <a:bodyPr wrap="square"/>
                    <a:lstStyle/>
                    <a:p>
                      <a:pPr/>
                      <a:r>
                        <a:rPr b="0" sz="1200">
                          <a:solidFill>
                            <a:srgbClr val="444B54"/>
                          </a:solidFill>
                          <a:latin typeface="Calibri"/>
                        </a:rPr>
                        <a:t>8.3 hrs</a:t>
                      </a:r>
                    </a:p>
                  </a:txBody>
                  <a:tcPr marL="91440" marR="91440" marT="36576" marB="36576" anchor="ctr">
                    <a:solidFill>
                      <a:srgbClr val="FFFFFF"/>
                    </a:solidFill>
                  </a:tcPr>
                </a:tc>
                <a:tc>
                  <a:txBody>
                    <a:bodyPr wrap="square"/>
                    <a:lstStyle/>
                    <a:p>
                      <a:pPr/>
                      <a:r>
                        <a:rPr b="0" sz="1200">
                          <a:solidFill>
                            <a:srgbClr val="444B54"/>
                          </a:solidFill>
                          <a:latin typeface="Calibri"/>
                        </a:rPr>
                        <a:t>83%</a:t>
                      </a:r>
                    </a:p>
                  </a:txBody>
                  <a:tcPr marL="91440" marR="91440" marT="36576" marB="36576" anchor="ctr">
                    <a:solidFill>
                      <a:srgbClr val="FFFFFF"/>
                    </a:solidFill>
                  </a:tcPr>
                </a:tc>
              </a:tr>
              <a:tr h="336104">
                <a:tc>
                  <a:txBody>
                    <a:bodyPr wrap="square"/>
                    <a:lstStyle/>
                    <a:p>
                      <a:pPr/>
                      <a:r>
                        <a:rPr b="1" sz="1200">
                          <a:solidFill>
                            <a:srgbClr val="1A1D21"/>
                          </a:solidFill>
                          <a:latin typeface="Calibri"/>
                        </a:rPr>
                        <a:t>Provider Issue Management</a:t>
                      </a:r>
                    </a:p>
                  </a:txBody>
                  <a:tcPr marL="91440" marR="91440" marT="36576" marB="36576" anchor="ctr">
                    <a:solidFill>
                      <a:srgbClr val="F3F5F8"/>
                    </a:solidFill>
                  </a:tcPr>
                </a:tc>
                <a:tc>
                  <a:txBody>
                    <a:bodyPr wrap="square"/>
                    <a:lstStyle/>
                    <a:p>
                      <a:pPr/>
                      <a:r>
                        <a:rPr b="0" sz="1200">
                          <a:solidFill>
                            <a:srgbClr val="444B54"/>
                          </a:solidFill>
                          <a:latin typeface="Calibri"/>
                        </a:rPr>
                        <a:t>~12 min</a:t>
                      </a:r>
                    </a:p>
                  </a:txBody>
                  <a:tcPr marL="91440" marR="91440" marT="36576" marB="36576" anchor="ctr">
                    <a:solidFill>
                      <a:srgbClr val="F3F5F8"/>
                    </a:solidFill>
                  </a:tcPr>
                </a:tc>
                <a:tc>
                  <a:txBody>
                    <a:bodyPr wrap="square"/>
                    <a:lstStyle/>
                    <a:p>
                      <a:pPr/>
                      <a:r>
                        <a:rPr b="0" sz="1200">
                          <a:solidFill>
                            <a:srgbClr val="444B54"/>
                          </a:solidFill>
                          <a:latin typeface="Calibri"/>
                        </a:rPr>
                        <a:t>~3 min</a:t>
                      </a:r>
                    </a:p>
                  </a:txBody>
                  <a:tcPr marL="91440" marR="91440" marT="36576" marB="36576" anchor="ctr">
                    <a:solidFill>
                      <a:srgbClr val="F3F5F8"/>
                    </a:solidFill>
                  </a:tcPr>
                </a:tc>
                <a:tc>
                  <a:txBody>
                    <a:bodyPr wrap="square"/>
                    <a:lstStyle/>
                    <a:p>
                      <a:pPr/>
                      <a:r>
                        <a:rPr b="0" sz="1200">
                          <a:solidFill>
                            <a:srgbClr val="444B54"/>
                          </a:solidFill>
                          <a:latin typeface="Calibri"/>
                        </a:rPr>
                        <a:t>15.0 hrs</a:t>
                      </a:r>
                    </a:p>
                  </a:txBody>
                  <a:tcPr marL="91440" marR="91440" marT="36576" marB="36576" anchor="ctr">
                    <a:solidFill>
                      <a:srgbClr val="F3F5F8"/>
                    </a:solidFill>
                  </a:tcPr>
                </a:tc>
                <a:tc>
                  <a:txBody>
                    <a:bodyPr wrap="square"/>
                    <a:lstStyle/>
                    <a:p>
                      <a:pPr/>
                      <a:r>
                        <a:rPr b="0" sz="1200">
                          <a:solidFill>
                            <a:srgbClr val="444B54"/>
                          </a:solidFill>
                          <a:latin typeface="Calibri"/>
                        </a:rPr>
                        <a:t>75%</a:t>
                      </a:r>
                    </a:p>
                  </a:txBody>
                  <a:tcPr marL="91440" marR="91440" marT="36576" marB="36576" anchor="ctr">
                    <a:solidFill>
                      <a:srgbClr val="F3F5F8"/>
                    </a:solidFill>
                  </a:tcPr>
                </a:tc>
              </a:tr>
              <a:tr h="336104">
                <a:tc>
                  <a:txBody>
                    <a:bodyPr wrap="square"/>
                    <a:lstStyle/>
                    <a:p>
                      <a:pPr/>
                      <a:r>
                        <a:rPr b="1" sz="1200">
                          <a:solidFill>
                            <a:srgbClr val="1A1D21"/>
                          </a:solidFill>
                          <a:latin typeface="Calibri"/>
                        </a:rPr>
                        <a:t>Provider Termination</a:t>
                      </a:r>
                    </a:p>
                  </a:txBody>
                  <a:tcPr marL="91440" marR="91440" marT="36576" marB="36576" anchor="ctr">
                    <a:solidFill>
                      <a:srgbClr val="FFFFFF"/>
                    </a:solidFill>
                  </a:tcPr>
                </a:tc>
                <a:tc>
                  <a:txBody>
                    <a:bodyPr wrap="square"/>
                    <a:lstStyle/>
                    <a:p>
                      <a:pPr/>
                      <a:r>
                        <a:rPr b="0" sz="1200">
                          <a:solidFill>
                            <a:srgbClr val="444B54"/>
                          </a:solidFill>
                          <a:latin typeface="Calibri"/>
                        </a:rPr>
                        <a:t>~20 min</a:t>
                      </a:r>
                    </a:p>
                  </a:txBody>
                  <a:tcPr marL="91440" marR="91440" marT="36576" marB="36576" anchor="ctr">
                    <a:solidFill>
                      <a:srgbClr val="FFFFFF"/>
                    </a:solidFill>
                  </a:tcPr>
                </a:tc>
                <a:tc>
                  <a:txBody>
                    <a:bodyPr wrap="square"/>
                    <a:lstStyle/>
                    <a:p>
                      <a:pPr/>
                      <a:r>
                        <a:rPr b="0" sz="1200">
                          <a:solidFill>
                            <a:srgbClr val="444B54"/>
                          </a:solidFill>
                          <a:latin typeface="Calibri"/>
                        </a:rPr>
                        <a:t>~5 min</a:t>
                      </a:r>
                    </a:p>
                  </a:txBody>
                  <a:tcPr marL="91440" marR="91440" marT="36576" marB="36576" anchor="ctr">
                    <a:solidFill>
                      <a:srgbClr val="FFFFFF"/>
                    </a:solidFill>
                  </a:tcPr>
                </a:tc>
                <a:tc>
                  <a:txBody>
                    <a:bodyPr wrap="square"/>
                    <a:lstStyle/>
                    <a:p>
                      <a:pPr/>
                      <a:r>
                        <a:rPr b="0" sz="1200">
                          <a:solidFill>
                            <a:srgbClr val="444B54"/>
                          </a:solidFill>
                          <a:latin typeface="Calibri"/>
                        </a:rPr>
                        <a:t>25.0 hrs</a:t>
                      </a:r>
                    </a:p>
                  </a:txBody>
                  <a:tcPr marL="91440" marR="91440" marT="36576" marB="36576" anchor="ctr">
                    <a:solidFill>
                      <a:srgbClr val="FFFFFF"/>
                    </a:solidFill>
                  </a:tcPr>
                </a:tc>
                <a:tc>
                  <a:txBody>
                    <a:bodyPr wrap="square"/>
                    <a:lstStyle/>
                    <a:p>
                      <a:pPr/>
                      <a:r>
                        <a:rPr b="0" sz="1200">
                          <a:solidFill>
                            <a:srgbClr val="444B54"/>
                          </a:solidFill>
                          <a:latin typeface="Calibri"/>
                        </a:rPr>
                        <a:t>75%</a:t>
                      </a:r>
                    </a:p>
                  </a:txBody>
                  <a:tcPr marL="91440" marR="91440" marT="36576" marB="36576" anchor="ctr">
                    <a:solidFill>
                      <a:srgbClr val="FFFFFF"/>
                    </a:solidFill>
                  </a:tcPr>
                </a:tc>
              </a:tr>
              <a:tr h="336104">
                <a:tc>
                  <a:txBody>
                    <a:bodyPr wrap="square"/>
                    <a:lstStyle/>
                    <a:p>
                      <a:pPr/>
                      <a:r>
                        <a:rPr b="1" sz="1200">
                          <a:solidFill>
                            <a:srgbClr val="1A1D21"/>
                          </a:solidFill>
                          <a:latin typeface="Calibri"/>
                        </a:rPr>
                        <a:t>Member Benefits and Eligibility</a:t>
                      </a:r>
                    </a:p>
                  </a:txBody>
                  <a:tcPr marL="91440" marR="91440" marT="36576" marB="36576" anchor="ctr">
                    <a:solidFill>
                      <a:srgbClr val="F3F5F8"/>
                    </a:solidFill>
                  </a:tcPr>
                </a:tc>
                <a:tc>
                  <a:txBody>
                    <a:bodyPr wrap="square"/>
                    <a:lstStyle/>
                    <a:p>
                      <a:pPr/>
                      <a:r>
                        <a:rPr b="0" sz="1200">
                          <a:solidFill>
                            <a:srgbClr val="444B54"/>
                          </a:solidFill>
                          <a:latin typeface="Calibri"/>
                        </a:rPr>
                        <a:t>~9 min</a:t>
                      </a:r>
                    </a:p>
                  </a:txBody>
                  <a:tcPr marL="91440" marR="91440" marT="36576" marB="36576" anchor="ctr">
                    <a:solidFill>
                      <a:srgbClr val="F3F5F8"/>
                    </a:solidFill>
                  </a:tcPr>
                </a:tc>
                <a:tc>
                  <a:txBody>
                    <a:bodyPr wrap="square"/>
                    <a:lstStyle/>
                    <a:p>
                      <a:pPr/>
                      <a:r>
                        <a:rPr b="0" sz="1200">
                          <a:solidFill>
                            <a:srgbClr val="444B54"/>
                          </a:solidFill>
                          <a:latin typeface="Calibri"/>
                        </a:rPr>
                        <a:t>~2 min</a:t>
                      </a:r>
                    </a:p>
                  </a:txBody>
                  <a:tcPr marL="91440" marR="91440" marT="36576" marB="36576" anchor="ctr">
                    <a:solidFill>
                      <a:srgbClr val="F3F5F8"/>
                    </a:solidFill>
                  </a:tcPr>
                </a:tc>
                <a:tc>
                  <a:txBody>
                    <a:bodyPr wrap="square"/>
                    <a:lstStyle/>
                    <a:p>
                      <a:pPr/>
                      <a:r>
                        <a:rPr b="0" sz="1200">
                          <a:solidFill>
                            <a:srgbClr val="444B54"/>
                          </a:solidFill>
                          <a:latin typeface="Calibri"/>
                        </a:rPr>
                        <a:t>11.7 hrs</a:t>
                      </a:r>
                    </a:p>
                  </a:txBody>
                  <a:tcPr marL="91440" marR="91440" marT="36576" marB="36576" anchor="ctr">
                    <a:solidFill>
                      <a:srgbClr val="F3F5F8"/>
                    </a:solidFill>
                  </a:tcPr>
                </a:tc>
                <a:tc>
                  <a:txBody>
                    <a:bodyPr wrap="square"/>
                    <a:lstStyle/>
                    <a:p>
                      <a:pPr/>
                      <a:r>
                        <a:rPr b="0" sz="1200">
                          <a:solidFill>
                            <a:srgbClr val="444B54"/>
                          </a:solidFill>
                          <a:latin typeface="Calibri"/>
                        </a:rPr>
                        <a:t>78%</a:t>
                      </a:r>
                    </a:p>
                  </a:txBody>
                  <a:tcPr marL="91440" marR="91440" marT="36576" marB="36576" anchor="ctr">
                    <a:solidFill>
                      <a:srgbClr val="F3F5F8"/>
                    </a:solidFill>
                  </a:tcPr>
                </a:tc>
              </a:tr>
              <a:tr h="336104">
                <a:tc>
                  <a:txBody>
                    <a:bodyPr wrap="square"/>
                    <a:lstStyle/>
                    <a:p>
                      <a:pPr/>
                      <a:r>
                        <a:rPr b="1" sz="1200">
                          <a:solidFill>
                            <a:srgbClr val="04844B"/>
                          </a:solidFill>
                          <a:latin typeface="Calibri"/>
                        </a:rPr>
                        <a:t>All twelve agents (1200 interactions)</a:t>
                      </a:r>
                    </a:p>
                  </a:txBody>
                  <a:tcPr marL="91440" marR="91440" marT="36576" marB="36576" anchor="ctr">
                    <a:solidFill>
                      <a:srgbClr val="E3F5E9"/>
                    </a:solidFill>
                  </a:tcPr>
                </a:tc>
                <a:tc>
                  <a:txBody>
                    <a:bodyPr wrap="square"/>
                    <a:lstStyle/>
                    <a:p>
                      <a:pPr/>
                      <a:r>
                        <a:rPr b="1" sz="1200">
                          <a:solidFill>
                            <a:srgbClr val="04844B"/>
                          </a:solidFill>
                          <a:latin typeface="Calibri"/>
                        </a:rPr>
                        <a:t>—</a:t>
                      </a:r>
                    </a:p>
                  </a:txBody>
                  <a:tcPr marL="91440" marR="91440" marT="36576" marB="36576" anchor="ctr">
                    <a:solidFill>
                      <a:srgbClr val="E3F5E9"/>
                    </a:solidFill>
                  </a:tcPr>
                </a:tc>
                <a:tc>
                  <a:txBody>
                    <a:bodyPr wrap="square"/>
                    <a:lstStyle/>
                    <a:p>
                      <a:pPr/>
                      <a:r>
                        <a:rPr b="1" sz="1200">
                          <a:solidFill>
                            <a:srgbClr val="04844B"/>
                          </a:solidFill>
                          <a:latin typeface="Calibri"/>
                        </a:rPr>
                        <a:t>—</a:t>
                      </a:r>
                    </a:p>
                  </a:txBody>
                  <a:tcPr marL="91440" marR="91440" marT="36576" marB="36576" anchor="ctr">
                    <a:solidFill>
                      <a:srgbClr val="E3F5E9"/>
                    </a:solidFill>
                  </a:tcPr>
                </a:tc>
                <a:tc>
                  <a:txBody>
                    <a:bodyPr wrap="square"/>
                    <a:lstStyle/>
                    <a:p>
                      <a:pPr/>
                      <a:r>
                        <a:rPr b="1" sz="1200">
                          <a:solidFill>
                            <a:srgbClr val="04844B"/>
                          </a:solidFill>
                          <a:latin typeface="Calibri"/>
                        </a:rPr>
                        <a:t>≈192 hrs</a:t>
                      </a:r>
                    </a:p>
                  </a:txBody>
                  <a:tcPr marL="91440" marR="91440" marT="36576" marB="36576" anchor="ctr">
                    <a:solidFill>
                      <a:srgbClr val="E3F5E9"/>
                    </a:solidFill>
                  </a:tcPr>
                </a:tc>
                <a:tc>
                  <a:txBody>
                    <a:bodyPr wrap="square"/>
                    <a:lstStyle/>
                    <a:p>
                      <a:pPr/>
                      <a:r>
                        <a:rPr b="1" sz="1200">
                          <a:solidFill>
                            <a:srgbClr val="04844B"/>
                          </a:solidFill>
                          <a:latin typeface="Calibri"/>
                        </a:rPr>
                        <a:t>≈78% avg</a:t>
                      </a:r>
                    </a:p>
                  </a:txBody>
                  <a:tcPr marL="91440" marR="91440" marT="36576" marB="36576" anchor="ctr">
                    <a:solidFill>
                      <a:srgbClr val="E3F5E9"/>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RETURN ON INVESTMENT</a:t>
            </a:r>
          </a:p>
        </p:txBody>
      </p:sp>
      <p:sp>
        <p:nvSpPr>
          <p:cNvPr id="4"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Assumptions &amp; methodology</a:t>
            </a:r>
          </a:p>
        </p:txBody>
      </p:sp>
      <p:sp>
        <p:nvSpPr>
          <p:cNvPr id="5" name="TextBox 16"/>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6" name="TextBox 17"/>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18</a:t>
            </a:r>
          </a:p>
        </p:txBody>
      </p:sp>
      <p:sp>
        <p:nvSpPr>
          <p:cNvPr id="9" name="TextBox 8"/>
          <p:cNvSpPr txBox="1"/>
          <p:nvPr/>
        </p:nvSpPr>
        <p:spPr>
          <a:xfrm>
            <a:off x="548640" y="1700000"/>
            <a:ext cx="11094415" cy="1600200"/>
          </a:xfrm>
          <a:prstGeom prst="rect">
            <a:avLst/>
          </a:prstGeom>
          <a:noFill/>
        </p:spPr>
        <p:txBody>
          <a:bodyPr wrap="square">
            <a:spAutoFit/>
          </a:bodyPr>
          <a:lstStyle/>
          <a:p>
            <a:pPr>
              <a:lnSpc>
                <a:spcPct val="108000"/>
              </a:lnSpc>
              <a:spcBef>
                <a:spcPts val="0"/>
              </a:spcBef>
              <a:spcAft>
                <a:spcPts val="700"/>
              </a:spcAft>
            </a:pPr>
            <a:r>
              <a:rPr b="1" sz="1200">
                <a:solidFill>
                  <a:srgbClr val="1A1D21"/>
                </a:solidFill>
                <a:latin typeface="Calibri"/>
              </a:rPr>
              <a:t>▪  Manual time </a:t>
            </a:r>
            <a:r>
              <a:rPr b="0" sz="1200">
                <a:solidFill>
                  <a:srgbClr val="444B54"/>
                </a:solidFill>
                <a:latin typeface="Calibri"/>
              </a:rPr>
              <a:t>= average handle time for the equivalent task performed today by phone, paperwork, or manual lookup — based on typical payer contact-center benchmarks, not this client's measured data.</a:t>
            </a:r>
          </a:p>
          <a:p>
            <a:pPr>
              <a:lnSpc>
                <a:spcPct val="108000"/>
              </a:lnSpc>
              <a:spcBef>
                <a:spcPts val="0"/>
              </a:spcBef>
              <a:spcAft>
                <a:spcPts val="700"/>
              </a:spcAft>
            </a:pPr>
            <a:r>
              <a:rPr b="1" sz="1200">
                <a:solidFill>
                  <a:srgbClr val="1A1D21"/>
                </a:solidFill>
                <a:latin typeface="Calibri"/>
              </a:rPr>
              <a:t>▪  Agentforce time </a:t>
            </a:r>
            <a:r>
              <a:rPr b="0" sz="1200">
                <a:solidFill>
                  <a:srgbClr val="444B54"/>
                </a:solidFill>
                <a:latin typeface="Calibri"/>
              </a:rPr>
              <a:t>= average time for the agent to resolve the same request via self-service chat/voice, including cases that escalate to a live agent.</a:t>
            </a:r>
          </a:p>
          <a:p>
            <a:pPr>
              <a:lnSpc>
                <a:spcPct val="108000"/>
              </a:lnSpc>
              <a:spcBef>
                <a:spcPts val="0"/>
              </a:spcBef>
              <a:spcAft>
                <a:spcPts val="700"/>
              </a:spcAft>
            </a:pPr>
            <a:r>
              <a:rPr b="1" sz="1200">
                <a:solidFill>
                  <a:srgbClr val="1A1D21"/>
                </a:solidFill>
                <a:latin typeface="Calibri"/>
              </a:rPr>
              <a:t>▪  Time saved </a:t>
            </a:r>
            <a:r>
              <a:rPr b="0" sz="1200">
                <a:solidFill>
                  <a:srgbClr val="444B54"/>
                </a:solidFill>
                <a:latin typeface="Calibri"/>
              </a:rPr>
              <a:t>= (manual time − Agentforce time) × 100 interactions, expressed in staff hours; the total row sums all six agents at 100 interactions each (600 total).</a:t>
            </a:r>
          </a:p>
          <a:p>
            <a:pPr>
              <a:lnSpc>
                <a:spcPct val="108000"/>
              </a:lnSpc>
              <a:spcBef>
                <a:spcPts val="0"/>
              </a:spcBef>
              <a:spcAft>
                <a:spcPts val="700"/>
              </a:spcAft>
            </a:pPr>
            <a:r>
              <a:rPr b="1" sz="1200">
                <a:solidFill>
                  <a:srgbClr val="1A1D21"/>
                </a:solidFill>
                <a:latin typeface="Calibri"/>
              </a:rPr>
              <a:t>▪  These figures are illustrative, directional planning estimates </a:t>
            </a:r>
            <a:r>
              <a:rPr b="0" sz="1200">
                <a:solidFill>
                  <a:srgbClr val="444B54"/>
                </a:solidFill>
                <a:latin typeface="Calibri"/>
              </a:rPr>
              <a:t>meant to frame the conversation — validate against the client's own AHT and volume data during discovery or pilot.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PERSONAS ACROSS THE LIFECYCLE</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Who benefits</a:t>
            </a:r>
          </a:p>
        </p:txBody>
      </p:sp>
      <p:sp>
        <p:nvSpPr>
          <p:cNvPr id="6" name="Rectangle 5"/>
          <p:cNvSpPr/>
          <p:nvPr/>
        </p:nvSpPr>
        <p:spPr>
          <a:xfrm>
            <a:off x="548640" y="1417320"/>
            <a:ext cx="3602736"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17320"/>
            <a:ext cx="3602736" cy="566928"/>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3236976" cy="566928"/>
          </a:xfrm>
          <a:prstGeom prst="rect">
            <a:avLst/>
          </a:prstGeom>
          <a:noFill/>
        </p:spPr>
        <p:txBody>
          <a:bodyPr wrap="square" anchor="ctr">
            <a:spAutoFit/>
          </a:bodyPr>
          <a:lstStyle/>
          <a:p>
            <a:pPr algn="l">
              <a:lnSpc>
                <a:spcPct val="105000"/>
              </a:lnSpc>
              <a:spcBef>
                <a:spcPts val="0"/>
              </a:spcBef>
              <a:spcAft>
                <a:spcPts val="600"/>
              </a:spcAft>
            </a:pPr>
            <a:r>
              <a:rPr sz="1600" b="1">
                <a:solidFill>
                  <a:srgbClr val="FFFFFF"/>
                </a:solidFill>
                <a:latin typeface="Calibri"/>
              </a:rPr>
              <a:t>Internal staff</a:t>
            </a:r>
          </a:p>
        </p:txBody>
      </p:sp>
      <p:sp>
        <p:nvSpPr>
          <p:cNvPr id="9" name="TextBox 8"/>
          <p:cNvSpPr txBox="1"/>
          <p:nvPr/>
        </p:nvSpPr>
        <p:spPr>
          <a:xfrm>
            <a:off x="749808" y="2148840"/>
            <a:ext cx="3200400" cy="3566160"/>
          </a:xfrm>
          <a:prstGeom prst="rect">
            <a:avLst/>
          </a:prstGeom>
          <a:noFill/>
        </p:spPr>
        <p:txBody>
          <a:bodyPr wrap="square">
            <a:spAutoFit/>
          </a:bodyPr>
          <a:lstStyle/>
          <a:p>
            <a:pPr>
              <a:lnSpc>
                <a:spcPct val="103000"/>
              </a:lnSpc>
              <a:spcBef>
                <a:spcPts val="0"/>
              </a:spcBef>
              <a:spcAft>
                <a:spcPts val="800"/>
              </a:spcAft>
            </a:pPr>
            <a:r>
              <a:rPr b="1" sz="1300">
                <a:solidFill>
                  <a:srgbClr val="1A1D21"/>
                </a:solidFill>
                <a:latin typeface="Calibri"/>
              </a:rPr>
              <a:t>▪  Contract &amp; network operations </a:t>
            </a:r>
            <a:r>
              <a:rPr b="0" sz="1300">
                <a:solidFill>
                  <a:srgbClr val="444B54"/>
                </a:solidFill>
                <a:latin typeface="Calibri"/>
              </a:rPr>
              <a:t>— instant contract answers</a:t>
            </a:r>
          </a:p>
          <a:p>
            <a:pPr>
              <a:lnSpc>
                <a:spcPct val="103000"/>
              </a:lnSpc>
              <a:spcBef>
                <a:spcPts val="0"/>
              </a:spcBef>
              <a:spcAft>
                <a:spcPts val="800"/>
              </a:spcAft>
            </a:pPr>
            <a:r>
              <a:rPr b="1" sz="1300">
                <a:solidFill>
                  <a:srgbClr val="1A1D21"/>
                </a:solidFill>
                <a:latin typeface="Calibri"/>
              </a:rPr>
              <a:t>▪  Service / contact-center </a:t>
            </a:r>
            <a:r>
              <a:rPr b="0" sz="1300">
                <a:solidFill>
                  <a:srgbClr val="444B54"/>
                </a:solidFill>
                <a:latin typeface="Calibri"/>
              </a:rPr>
              <a:t>— 360° provider profiles</a:t>
            </a:r>
          </a:p>
          <a:p>
            <a:pPr>
              <a:lnSpc>
                <a:spcPct val="103000"/>
              </a:lnSpc>
              <a:spcBef>
                <a:spcPts val="0"/>
              </a:spcBef>
              <a:spcAft>
                <a:spcPts val="800"/>
              </a:spcAft>
            </a:pPr>
            <a:r>
              <a:rPr b="1" sz="1300">
                <a:solidFill>
                  <a:srgbClr val="1A1D21"/>
                </a:solidFill>
                <a:latin typeface="Calibri"/>
              </a:rPr>
              <a:t>▪  Member &amp; employer support </a:t>
            </a:r>
            <a:r>
              <a:rPr b="0" sz="1300">
                <a:solidFill>
                  <a:srgbClr val="444B54"/>
                </a:solidFill>
                <a:latin typeface="Calibri"/>
              </a:rPr>
              <a:t>— deflected inquiries, faster escalations</a:t>
            </a:r>
          </a:p>
          <a:p>
            <a:pPr>
              <a:lnSpc>
                <a:spcPct val="103000"/>
              </a:lnSpc>
              <a:spcBef>
                <a:spcPts val="0"/>
              </a:spcBef>
              <a:spcAft>
                <a:spcPts val="800"/>
              </a:spcAft>
            </a:pPr>
            <a:r>
              <a:rPr b="1" sz="1300">
                <a:solidFill>
                  <a:srgbClr val="1A1D21"/>
                </a:solidFill>
                <a:latin typeface="Calibri"/>
              </a:rPr>
              <a:t>▪  Onboarding teams </a:t>
            </a:r>
            <a:r>
              <a:rPr b="0" sz="1300">
                <a:solidFill>
                  <a:srgbClr val="444B54"/>
                </a:solidFill>
                <a:latin typeface="Calibri"/>
              </a:rPr>
              <a:t>— guided, structured enrollment</a:t>
            </a:r>
          </a:p>
          <a:p>
            <a:r>
              <a:rPr sz="1300" b="1">
                <a:solidFill>
                  <a:srgbClr val="1A1D21"/>
                </a:solidFill>
                <a:latin typeface="Calibri"/>
              </a:rPr>
              <a:t>▪  Credentialing &amp; network ops — case status, participation checks, termination impact review</a:t>
            </a:r>
          </a:p>
        </p:txBody>
      </p:sp>
      <p:sp>
        <p:nvSpPr>
          <p:cNvPr id="10" name="Rectangle 9"/>
          <p:cNvSpPr/>
          <p:nvPr/>
        </p:nvSpPr>
        <p:spPr>
          <a:xfrm>
            <a:off x="4325112" y="1417320"/>
            <a:ext cx="3602736"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5112" y="1417320"/>
            <a:ext cx="3602736" cy="566928"/>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417320"/>
            <a:ext cx="3236976" cy="566928"/>
          </a:xfrm>
          <a:prstGeom prst="rect">
            <a:avLst/>
          </a:prstGeom>
          <a:noFill/>
        </p:spPr>
        <p:txBody>
          <a:bodyPr wrap="square" anchor="ctr">
            <a:spAutoFit/>
          </a:bodyPr>
          <a:lstStyle/>
          <a:p>
            <a:pPr algn="l">
              <a:lnSpc>
                <a:spcPct val="105000"/>
              </a:lnSpc>
              <a:spcBef>
                <a:spcPts val="0"/>
              </a:spcBef>
              <a:spcAft>
                <a:spcPts val="600"/>
              </a:spcAft>
            </a:pPr>
            <a:r>
              <a:rPr sz="1600" b="1">
                <a:solidFill>
                  <a:srgbClr val="FFFFFF"/>
                </a:solidFill>
                <a:latin typeface="Calibri"/>
              </a:rPr>
              <a:t>Providers, members &amp; employers</a:t>
            </a:r>
          </a:p>
        </p:txBody>
      </p:sp>
      <p:sp>
        <p:nvSpPr>
          <p:cNvPr id="13" name="TextBox 12"/>
          <p:cNvSpPr txBox="1"/>
          <p:nvPr/>
        </p:nvSpPr>
        <p:spPr>
          <a:xfrm>
            <a:off x="4526280" y="2148840"/>
            <a:ext cx="3200400" cy="3566160"/>
          </a:xfrm>
          <a:prstGeom prst="rect">
            <a:avLst/>
          </a:prstGeom>
          <a:noFill/>
        </p:spPr>
        <p:txBody>
          <a:bodyPr wrap="square">
            <a:spAutoFit/>
          </a:bodyPr>
          <a:lstStyle/>
          <a:p>
            <a:pPr>
              <a:lnSpc>
                <a:spcPct val="103000"/>
              </a:lnSpc>
              <a:spcBef>
                <a:spcPts val="0"/>
              </a:spcBef>
              <a:spcAft>
                <a:spcPts val="800"/>
              </a:spcAft>
            </a:pPr>
            <a:r>
              <a:rPr b="1" sz="1300">
                <a:solidFill>
                  <a:srgbClr val="1A1D21"/>
                </a:solidFill>
                <a:latin typeface="Calibri"/>
              </a:rPr>
              <a:t>▪  Members </a:t>
            </a:r>
            <a:r>
              <a:rPr b="0" sz="1300">
                <a:solidFill>
                  <a:srgbClr val="444B54"/>
                </a:solidFill>
                <a:latin typeface="Calibri"/>
              </a:rPr>
              <a:t>— self-service coverage-change requests, no hold times, trackable by Issue Id</a:t>
            </a:r>
          </a:p>
          <a:p>
            <a:pPr>
              <a:lnSpc>
                <a:spcPct val="103000"/>
              </a:lnSpc>
              <a:spcBef>
                <a:spcPts val="0"/>
              </a:spcBef>
              <a:spcAft>
                <a:spcPts val="800"/>
              </a:spcAft>
            </a:pPr>
            <a:r>
              <a:rPr b="1" sz="1300">
                <a:solidFill>
                  <a:srgbClr val="1A1D21"/>
                </a:solidFill>
                <a:latin typeface="Calibri"/>
              </a:rPr>
              <a:t>▪  Providers </a:t>
            </a:r>
            <a:r>
              <a:rPr b="0" sz="1300">
                <a:solidFill>
                  <a:srgbClr val="444B54"/>
                </a:solidFill>
                <a:latin typeface="Calibri"/>
              </a:rPr>
              <a:t>— verified, secure network &amp; fee inquiries with seamless human escalation</a:t>
            </a:r>
          </a:p>
          <a:p>
            <a:pPr>
              <a:lnSpc>
                <a:spcPct val="103000"/>
              </a:lnSpc>
              <a:spcBef>
                <a:spcPts val="0"/>
              </a:spcBef>
              <a:spcAft>
                <a:spcPts val="800"/>
              </a:spcAft>
            </a:pPr>
            <a:r>
              <a:rPr b="1" sz="1300">
                <a:solidFill>
                  <a:srgbClr val="1A1D21"/>
                </a:solidFill>
                <a:latin typeface="Calibri"/>
              </a:rPr>
              <a:t>▪  Employer groups </a:t>
            </a:r>
            <a:r>
              <a:rPr b="0" sz="1300">
                <a:solidFill>
                  <a:srgbClr val="444B54"/>
                </a:solidFill>
                <a:latin typeface="Calibri"/>
              </a:rPr>
              <a:t>— verified answers on policies, participants &amp; coverages</a:t>
            </a:r>
          </a:p>
          <a:p>
            <a:r>
              <a:rPr sz="1300" b="1">
                <a:solidFill>
                  <a:srgbClr val="1A1D21"/>
                </a:solidFill>
                <a:latin typeface="Calibri"/>
              </a:rPr>
              <a:t>▪  Providers — claim status, issue triage, and network verification without a phone call</a:t>
            </a:r>
          </a:p>
          <a:p>
            <a:r>
              <a:rPr sz="1300" b="1">
                <a:solidFill>
                  <a:srgbClr val="1A1D21"/>
                </a:solidFill>
                <a:latin typeface="Calibri"/>
              </a:rPr>
              <a:t>▪  Members — benefits, coverage, and claims answers over messaging or a live phone call</a:t>
            </a:r>
          </a:p>
        </p:txBody>
      </p:sp>
      <p:sp>
        <p:nvSpPr>
          <p:cNvPr id="14" name="Rectangle 13"/>
          <p:cNvSpPr/>
          <p:nvPr/>
        </p:nvSpPr>
        <p:spPr>
          <a:xfrm>
            <a:off x="8101584" y="1417320"/>
            <a:ext cx="3602736"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1584" y="1417320"/>
            <a:ext cx="3602736" cy="566928"/>
          </a:xfrm>
          <a:prstGeom prst="rect">
            <a:avLst/>
          </a:prstGeom>
          <a:solidFill>
            <a:srgbClr val="B860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4" y="1417320"/>
            <a:ext cx="3236976" cy="566928"/>
          </a:xfrm>
          <a:prstGeom prst="rect">
            <a:avLst/>
          </a:prstGeom>
          <a:noFill/>
        </p:spPr>
        <p:txBody>
          <a:bodyPr wrap="square" anchor="ctr">
            <a:spAutoFit/>
          </a:bodyPr>
          <a:lstStyle/>
          <a:p>
            <a:pPr algn="l">
              <a:lnSpc>
                <a:spcPct val="105000"/>
              </a:lnSpc>
              <a:spcBef>
                <a:spcPts val="0"/>
              </a:spcBef>
              <a:spcAft>
                <a:spcPts val="600"/>
              </a:spcAft>
            </a:pPr>
            <a:r>
              <a:rPr sz="1600" b="1">
                <a:solidFill>
                  <a:srgbClr val="FFFFFF"/>
                </a:solidFill>
                <a:latin typeface="Calibri"/>
              </a:rPr>
              <a:t>The organization</a:t>
            </a:r>
          </a:p>
        </p:txBody>
      </p:sp>
      <p:sp>
        <p:nvSpPr>
          <p:cNvPr id="17" name="TextBox 16"/>
          <p:cNvSpPr txBox="1"/>
          <p:nvPr/>
        </p:nvSpPr>
        <p:spPr>
          <a:xfrm>
            <a:off x="8302752" y="2148840"/>
            <a:ext cx="3200400" cy="3566160"/>
          </a:xfrm>
          <a:prstGeom prst="rect">
            <a:avLst/>
          </a:prstGeom>
          <a:noFill/>
        </p:spPr>
        <p:txBody>
          <a:bodyPr wrap="square">
            <a:spAutoFit/>
          </a:bodyPr>
          <a:lstStyle/>
          <a:p>
            <a:pPr>
              <a:lnSpc>
                <a:spcPct val="103000"/>
              </a:lnSpc>
              <a:spcAft>
                <a:spcPts val="1100"/>
              </a:spcAft>
            </a:pPr>
            <a:r>
              <a:rPr sz="1300" b="0">
                <a:solidFill>
                  <a:srgbClr val="1A1D21"/>
                </a:solidFill>
                <a:latin typeface="Calibri"/>
              </a:rPr>
              <a:t>▪  Regulatory compliance &amp; audit-ready data</a:t>
            </a:r>
          </a:p>
          <a:p>
            <a:pPr>
              <a:lnSpc>
                <a:spcPct val="103000"/>
              </a:lnSpc>
              <a:spcAft>
                <a:spcPts val="1100"/>
              </a:spcAft>
            </a:pPr>
            <a:r>
              <a:rPr sz="1300" b="0">
                <a:solidFill>
                  <a:srgbClr val="1A1D21"/>
                </a:solidFill>
                <a:latin typeface="Calibri"/>
              </a:rPr>
              <a:t>▪  Lower cost to serve at higher volume</a:t>
            </a:r>
          </a:p>
          <a:p>
            <a:pPr>
              <a:lnSpc>
                <a:spcPct val="103000"/>
              </a:lnSpc>
              <a:spcAft>
                <a:spcPts val="1100"/>
              </a:spcAft>
            </a:pPr>
            <a:r>
              <a:rPr sz="1300" b="0">
                <a:solidFill>
                  <a:srgbClr val="1A1D21"/>
                </a:solidFill>
                <a:latin typeface="Calibri"/>
              </a:rPr>
              <a:t>▪  One trusted source of provider truth</a:t>
            </a:r>
          </a:p>
        </p:txBody>
      </p:sp>
      <p:sp>
        <p:nvSpPr>
          <p:cNvPr id="18" name="TextBox 17"/>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19" name="TextBox 18"/>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058400" cy="274320"/>
          </a:xfrm>
          <a:prstGeom prst="rect">
            <a:avLst/>
          </a:prstGeom>
          <a:noFill/>
        </p:spPr>
        <p:txBody>
          <a:bodyPr wrap="square" anchor="t">
            <a:spAutoFit/>
          </a:bodyPr>
          <a:lstStyle/>
          <a:p>
            <a:pPr algn="l">
              <a:lnSpc>
                <a:spcPct val="105000"/>
              </a:lnSpc>
              <a:spcBef>
                <a:spcPts val="0"/>
              </a:spcBef>
              <a:spcAft>
                <a:spcPts val="600"/>
              </a:spcAft>
            </a:pPr>
            <a:r>
              <a:rPr sz="1100" b="1">
                <a:solidFill>
                  <a:srgbClr val="8EC7F0"/>
                </a:solidFill>
                <a:latin typeface="Calibri"/>
              </a:rPr>
              <a:t>FROM PILOT TO SCALE</a:t>
            </a:r>
          </a:p>
        </p:txBody>
      </p:sp>
      <p:sp>
        <p:nvSpPr>
          <p:cNvPr id="5" name="TextBox 4"/>
          <p:cNvSpPr txBox="1"/>
          <p:nvPr/>
        </p:nvSpPr>
        <p:spPr>
          <a:xfrm>
            <a:off x="548640" y="365760"/>
            <a:ext cx="11064240" cy="640080"/>
          </a:xfrm>
          <a:prstGeom prst="rect">
            <a:avLst/>
          </a:prstGeom>
          <a:noFill/>
        </p:spPr>
        <p:txBody>
          <a:bodyPr wrap="square" anchor="ctr">
            <a:spAutoFit/>
          </a:bodyPr>
          <a:lstStyle/>
          <a:p>
            <a:pPr algn="l">
              <a:lnSpc>
                <a:spcPct val="105000"/>
              </a:lnSpc>
              <a:spcBef>
                <a:spcPts val="0"/>
              </a:spcBef>
              <a:spcAft>
                <a:spcPts val="600"/>
              </a:spcAft>
            </a:pPr>
            <a:r>
              <a:rPr sz="2600" b="1">
                <a:solidFill>
                  <a:srgbClr val="FFFFFF"/>
                </a:solidFill>
                <a:latin typeface="Calibri"/>
              </a:rPr>
              <a:t>Where we are &amp; what's next</a:t>
            </a:r>
          </a:p>
        </p:txBody>
      </p:sp>
      <p:sp>
        <p:nvSpPr>
          <p:cNvPr id="6" name="Rectangle 5"/>
          <p:cNvSpPr/>
          <p:nvPr/>
        </p:nvSpPr>
        <p:spPr>
          <a:xfrm>
            <a:off x="548640" y="1554480"/>
            <a:ext cx="457200" cy="1188720"/>
          </a:xfrm>
          <a:prstGeom prst="rect">
            <a:avLst/>
          </a:prstGeom>
          <a:solidFill>
            <a:srgbClr val="048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457200" cy="1188720"/>
          </a:xfrm>
          <a:prstGeom prst="rect">
            <a:avLst/>
          </a:prstGeom>
          <a:noFill/>
        </p:spPr>
        <p:txBody>
          <a:bodyPr wrap="square" anchor="ctr">
            <a:spAutoFit/>
          </a:bodyPr>
          <a:lstStyle/>
          <a:p>
            <a:pPr algn="ctr">
              <a:lnSpc>
                <a:spcPct val="105000"/>
              </a:lnSpc>
              <a:spcBef>
                <a:spcPts val="0"/>
              </a:spcBef>
              <a:spcAft>
                <a:spcPts val="600"/>
              </a:spcAft>
            </a:pPr>
            <a:r>
              <a:rPr sz="2200" b="1">
                <a:solidFill>
                  <a:srgbClr val="FFFFFF"/>
                </a:solidFill>
                <a:latin typeface="Calibri"/>
              </a:rPr>
              <a:t>1</a:t>
            </a:r>
          </a:p>
        </p:txBody>
      </p:sp>
      <p:sp>
        <p:nvSpPr>
          <p:cNvPr id="8" name="Rectangle 7"/>
          <p:cNvSpPr/>
          <p:nvPr/>
        </p:nvSpPr>
        <p:spPr>
          <a:xfrm>
            <a:off x="1097280" y="1554480"/>
            <a:ext cx="1051560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1682496"/>
            <a:ext cx="10058400" cy="411480"/>
          </a:xfrm>
          <a:prstGeom prst="rect">
            <a:avLst/>
          </a:prstGeom>
          <a:noFill/>
        </p:spPr>
        <p:txBody>
          <a:bodyPr wrap="square" anchor="t">
            <a:spAutoFit/>
          </a:bodyPr>
          <a:lstStyle/>
          <a:p>
            <a:pPr algn="l">
              <a:lnSpc>
                <a:spcPct val="105000"/>
              </a:lnSpc>
              <a:spcBef>
                <a:spcPts val="0"/>
              </a:spcBef>
              <a:spcAft>
                <a:spcPts val="600"/>
              </a:spcAft>
            </a:pPr>
            <a:r>
              <a:rPr sz="1600" b="1">
                <a:solidFill>
                  <a:srgbClr val="032D60"/>
                </a:solidFill>
                <a:latin typeface="Calibri"/>
              </a:rPr>
              <a:t>Now — Built</a:t>
            </a:r>
          </a:p>
        </p:txBody>
      </p:sp>
      <p:sp>
        <p:nvSpPr>
          <p:cNvPr id="10" name="TextBox 9"/>
          <p:cNvSpPr txBox="1"/>
          <p:nvPr/>
        </p:nvSpPr>
        <p:spPr>
          <a:xfrm>
            <a:off x="1325880" y="2103120"/>
            <a:ext cx="10058400" cy="548640"/>
          </a:xfrm>
          <a:prstGeom prst="rect">
            <a:avLst/>
          </a:prstGeom>
          <a:noFill/>
        </p:spPr>
        <p:txBody>
          <a:bodyPr wrap="square" anchor="t">
            <a:spAutoFit/>
          </a:bodyPr>
          <a:lstStyle/>
          <a:p>
            <a:pPr algn="l">
              <a:lnSpc>
                <a:spcPct val="110000"/>
              </a:lnSpc>
              <a:spcBef>
                <a:spcPts val="0"/>
              </a:spcBef>
              <a:spcAft>
                <a:spcPts val="600"/>
              </a:spcAft>
            </a:pPr>
            <a:r>
              <a:rPr sz="1350" b="0">
                <a:solidFill>
                  <a:srgbClr val="444B54"/>
                </a:solidFill>
                <a:latin typeface="Calibri"/>
              </a:rPr>
              <a:t>All twelve agents authored as deployable bundles with data model, Flows, Apex, and permission sets.</a:t>
            </a:r>
          </a:p>
        </p:txBody>
      </p:sp>
      <p:sp>
        <p:nvSpPr>
          <p:cNvPr id="11" name="Rectangle 10"/>
          <p:cNvSpPr/>
          <p:nvPr/>
        </p:nvSpPr>
        <p:spPr>
          <a:xfrm>
            <a:off x="548640" y="2971800"/>
            <a:ext cx="457200" cy="1188720"/>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971800"/>
            <a:ext cx="457200" cy="1188720"/>
          </a:xfrm>
          <a:prstGeom prst="rect">
            <a:avLst/>
          </a:prstGeom>
          <a:noFill/>
        </p:spPr>
        <p:txBody>
          <a:bodyPr wrap="square" anchor="ctr">
            <a:spAutoFit/>
          </a:bodyPr>
          <a:lstStyle/>
          <a:p>
            <a:pPr algn="ctr">
              <a:lnSpc>
                <a:spcPct val="105000"/>
              </a:lnSpc>
              <a:spcBef>
                <a:spcPts val="0"/>
              </a:spcBef>
              <a:spcAft>
                <a:spcPts val="600"/>
              </a:spcAft>
            </a:pPr>
            <a:r>
              <a:rPr sz="2200" b="1">
                <a:solidFill>
                  <a:srgbClr val="FFFFFF"/>
                </a:solidFill>
                <a:latin typeface="Calibri"/>
              </a:rPr>
              <a:t>2</a:t>
            </a:r>
          </a:p>
        </p:txBody>
      </p:sp>
      <p:sp>
        <p:nvSpPr>
          <p:cNvPr id="13" name="Rectangle 12"/>
          <p:cNvSpPr/>
          <p:nvPr/>
        </p:nvSpPr>
        <p:spPr>
          <a:xfrm>
            <a:off x="1097280" y="2971800"/>
            <a:ext cx="1051560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099816"/>
            <a:ext cx="10058400" cy="411480"/>
          </a:xfrm>
          <a:prstGeom prst="rect">
            <a:avLst/>
          </a:prstGeom>
          <a:noFill/>
        </p:spPr>
        <p:txBody>
          <a:bodyPr wrap="square" anchor="t">
            <a:spAutoFit/>
          </a:bodyPr>
          <a:lstStyle/>
          <a:p>
            <a:pPr algn="l">
              <a:lnSpc>
                <a:spcPct val="105000"/>
              </a:lnSpc>
              <a:spcBef>
                <a:spcPts val="0"/>
              </a:spcBef>
              <a:spcAft>
                <a:spcPts val="600"/>
              </a:spcAft>
            </a:pPr>
            <a:r>
              <a:rPr sz="1600" b="1">
                <a:solidFill>
                  <a:srgbClr val="032D60"/>
                </a:solidFill>
                <a:latin typeface="Calibri"/>
              </a:rPr>
              <a:t>Next — Pilot</a:t>
            </a:r>
          </a:p>
        </p:txBody>
      </p:sp>
      <p:sp>
        <p:nvSpPr>
          <p:cNvPr id="15" name="TextBox 14"/>
          <p:cNvSpPr txBox="1"/>
          <p:nvPr/>
        </p:nvSpPr>
        <p:spPr>
          <a:xfrm>
            <a:off x="1325880" y="3520440"/>
            <a:ext cx="10058400" cy="548640"/>
          </a:xfrm>
          <a:prstGeom prst="rect">
            <a:avLst/>
          </a:prstGeom>
          <a:noFill/>
        </p:spPr>
        <p:txBody>
          <a:bodyPr wrap="square" anchor="t">
            <a:spAutoFit/>
          </a:bodyPr>
          <a:lstStyle/>
          <a:p>
            <a:pPr algn="l">
              <a:lnSpc>
                <a:spcPct val="110000"/>
              </a:lnSpc>
              <a:spcBef>
                <a:spcPts val="0"/>
              </a:spcBef>
              <a:spcAft>
                <a:spcPts val="600"/>
              </a:spcAft>
            </a:pPr>
            <a:r>
              <a:rPr sz="1350" b="0">
                <a:solidFill>
                  <a:srgbClr val="444B54"/>
                </a:solidFill>
                <a:latin typeface="Calibri"/>
              </a:rPr>
              <a:t>Deploy to a sandbox, connect live data, and validate with a small group of staff and providers.</a:t>
            </a:r>
          </a:p>
        </p:txBody>
      </p:sp>
      <p:sp>
        <p:nvSpPr>
          <p:cNvPr id="16" name="Rectangle 15"/>
          <p:cNvSpPr/>
          <p:nvPr/>
        </p:nvSpPr>
        <p:spPr>
          <a:xfrm>
            <a:off x="548640" y="4389120"/>
            <a:ext cx="457200" cy="118872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389120"/>
            <a:ext cx="457200" cy="1188720"/>
          </a:xfrm>
          <a:prstGeom prst="rect">
            <a:avLst/>
          </a:prstGeom>
          <a:noFill/>
        </p:spPr>
        <p:txBody>
          <a:bodyPr wrap="square" anchor="ctr">
            <a:spAutoFit/>
          </a:bodyPr>
          <a:lstStyle/>
          <a:p>
            <a:pPr algn="ctr">
              <a:lnSpc>
                <a:spcPct val="105000"/>
              </a:lnSpc>
              <a:spcBef>
                <a:spcPts val="0"/>
              </a:spcBef>
              <a:spcAft>
                <a:spcPts val="600"/>
              </a:spcAft>
            </a:pPr>
            <a:r>
              <a:rPr sz="2200" b="1">
                <a:solidFill>
                  <a:srgbClr val="FFFFFF"/>
                </a:solidFill>
                <a:latin typeface="Calibri"/>
              </a:rPr>
              <a:t>3</a:t>
            </a:r>
          </a:p>
        </p:txBody>
      </p:sp>
      <p:sp>
        <p:nvSpPr>
          <p:cNvPr id="18" name="Rectangle 17"/>
          <p:cNvSpPr/>
          <p:nvPr/>
        </p:nvSpPr>
        <p:spPr>
          <a:xfrm>
            <a:off x="1097280" y="4389120"/>
            <a:ext cx="10515600"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4517136"/>
            <a:ext cx="10058400" cy="411480"/>
          </a:xfrm>
          <a:prstGeom prst="rect">
            <a:avLst/>
          </a:prstGeom>
          <a:noFill/>
        </p:spPr>
        <p:txBody>
          <a:bodyPr wrap="square" anchor="t">
            <a:spAutoFit/>
          </a:bodyPr>
          <a:lstStyle/>
          <a:p>
            <a:pPr algn="l">
              <a:lnSpc>
                <a:spcPct val="105000"/>
              </a:lnSpc>
              <a:spcBef>
                <a:spcPts val="0"/>
              </a:spcBef>
              <a:spcAft>
                <a:spcPts val="600"/>
              </a:spcAft>
            </a:pPr>
            <a:r>
              <a:rPr sz="1600" b="1">
                <a:solidFill>
                  <a:srgbClr val="032D60"/>
                </a:solidFill>
                <a:latin typeface="Calibri"/>
              </a:rPr>
              <a:t>Then — Scale</a:t>
            </a:r>
          </a:p>
        </p:txBody>
      </p:sp>
      <p:sp>
        <p:nvSpPr>
          <p:cNvPr id="20" name="TextBox 19"/>
          <p:cNvSpPr txBox="1"/>
          <p:nvPr/>
        </p:nvSpPr>
        <p:spPr>
          <a:xfrm>
            <a:off x="1325880" y="4937760"/>
            <a:ext cx="10058400" cy="548640"/>
          </a:xfrm>
          <a:prstGeom prst="rect">
            <a:avLst/>
          </a:prstGeom>
          <a:noFill/>
        </p:spPr>
        <p:txBody>
          <a:bodyPr wrap="square" anchor="t">
            <a:spAutoFit/>
          </a:bodyPr>
          <a:lstStyle/>
          <a:p>
            <a:pPr algn="l">
              <a:lnSpc>
                <a:spcPct val="110000"/>
              </a:lnSpc>
              <a:spcBef>
                <a:spcPts val="0"/>
              </a:spcBef>
              <a:spcAft>
                <a:spcPts val="600"/>
              </a:spcAft>
            </a:pPr>
            <a:r>
              <a:rPr sz="1350" b="0">
                <a:solidFill>
                  <a:srgbClr val="444B54"/>
                </a:solidFill>
                <a:latin typeface="Calibri"/>
              </a:rPr>
              <a:t>Roll out by persona, add analytics on deflection &amp; cycle time, and extend to additional member and care-management agents.</a:t>
            </a:r>
          </a:p>
        </p:txBody>
      </p:sp>
      <p:sp>
        <p:nvSpPr>
          <p:cNvPr id="21" name="TextBox 20"/>
          <p:cNvSpPr txBox="1"/>
          <p:nvPr/>
        </p:nvSpPr>
        <p:spPr>
          <a:xfrm>
            <a:off x="548640" y="6455664"/>
            <a:ext cx="8229600" cy="292608"/>
          </a:xfrm>
          <a:prstGeom prst="rect">
            <a:avLst/>
          </a:prstGeom>
          <a:noFill/>
        </p:spPr>
        <p:txBody>
          <a:bodyPr wrap="square" anchor="t">
            <a:spAutoFit/>
          </a:bodyPr>
          <a:lstStyle/>
          <a:p>
            <a:pPr algn="l">
              <a:lnSpc>
                <a:spcPct val="105000"/>
              </a:lnSpc>
              <a:spcBef>
                <a:spcPts val="0"/>
              </a:spcBef>
              <a:spcAft>
                <a:spcPts val="600"/>
              </a:spcAft>
            </a:pPr>
            <a:r>
              <a:rPr sz="900" b="0">
                <a:solidFill>
                  <a:srgbClr val="8A9099"/>
                </a:solidFill>
                <a:latin typeface="Calibri"/>
              </a:rPr>
              <a:t>Payer Operations Agents  ·  Executive Overview</a:t>
            </a:r>
          </a:p>
        </p:txBody>
      </p:sp>
      <p:sp>
        <p:nvSpPr>
          <p:cNvPr id="22" name="TextBox 21"/>
          <p:cNvSpPr txBox="1"/>
          <p:nvPr/>
        </p:nvSpPr>
        <p:spPr>
          <a:xfrm>
            <a:off x="10972800" y="6455664"/>
            <a:ext cx="914400" cy="292608"/>
          </a:xfrm>
          <a:prstGeom prst="rect">
            <a:avLst/>
          </a:prstGeom>
          <a:noFill/>
        </p:spPr>
        <p:txBody>
          <a:bodyPr wrap="square" anchor="t">
            <a:spAutoFit/>
          </a:bodyPr>
          <a:lstStyle/>
          <a:p>
            <a:pPr algn="r">
              <a:lnSpc>
                <a:spcPct val="105000"/>
              </a:lnSpc>
              <a:spcBef>
                <a:spcPts val="0"/>
              </a:spcBef>
              <a:spcAft>
                <a:spcPts val="600"/>
              </a:spcAft>
            </a:pPr>
            <a:r>
              <a:rPr sz="900" b="1">
                <a:solidFill>
                  <a:srgbClr val="444B54"/>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91840"/>
            <a:ext cx="12191695" cy="54864"/>
          </a:xfrm>
          <a:prstGeom prst="rect">
            <a:avLst/>
          </a:prstGeom>
          <a:solidFill>
            <a:srgbClr val="017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515600" cy="1097280"/>
          </a:xfrm>
          <a:prstGeom prst="rect">
            <a:avLst/>
          </a:prstGeom>
          <a:noFill/>
        </p:spPr>
        <p:txBody>
          <a:bodyPr wrap="square" anchor="t">
            <a:spAutoFit/>
          </a:bodyPr>
          <a:lstStyle/>
          <a:p>
            <a:pPr algn="l">
              <a:lnSpc>
                <a:spcPct val="105000"/>
              </a:lnSpc>
              <a:spcBef>
                <a:spcPts val="0"/>
              </a:spcBef>
              <a:spcAft>
                <a:spcPts val="600"/>
              </a:spcAft>
            </a:pPr>
            <a:r>
              <a:rPr sz="3400" b="1">
                <a:solidFill>
                  <a:srgbClr val="FFFFFF"/>
                </a:solidFill>
                <a:latin typeface="Calibri"/>
              </a:rPr>
              <a:t>Twelve agents. One payer operation.</a:t>
            </a:r>
          </a:p>
        </p:txBody>
      </p:sp>
      <p:sp>
        <p:nvSpPr>
          <p:cNvPr id="5" name="TextBox 4"/>
          <p:cNvSpPr txBox="1"/>
          <p:nvPr/>
        </p:nvSpPr>
        <p:spPr>
          <a:xfrm>
            <a:off x="822960" y="3566160"/>
            <a:ext cx="10424160" cy="1463040"/>
          </a:xfrm>
          <a:prstGeom prst="rect">
            <a:avLst/>
          </a:prstGeom>
          <a:noFill/>
        </p:spPr>
        <p:txBody>
          <a:bodyPr wrap="square" anchor="t">
            <a:spAutoFit/>
          </a:bodyPr>
          <a:lstStyle/>
          <a:p>
            <a:pPr algn="l">
              <a:lnSpc>
                <a:spcPct val="120000"/>
              </a:lnSpc>
              <a:spcBef>
                <a:spcPts val="0"/>
              </a:spcBef>
              <a:spcAft>
                <a:spcPts val="600"/>
              </a:spcAft>
            </a:pPr>
            <a:r>
              <a:rPr sz="1600" b="0">
                <a:solidFill>
                  <a:srgbClr val="C9DDF2"/>
                </a:solidFill>
                <a:latin typeface="Calibri"/>
              </a:rPr>
              <a:t>Trusted, governed AI that helps staff move faster, helps providers, members, and employer groups self-serve, and keeps provider data accurate and audit-ready — built natively on Salesforce.</a:t>
            </a:r>
          </a:p>
        </p:txBody>
      </p:sp>
      <p:sp>
        <p:nvSpPr>
          <p:cNvPr id="6" name="TextBox 5"/>
          <p:cNvSpPr txBox="1"/>
          <p:nvPr/>
        </p:nvSpPr>
        <p:spPr>
          <a:xfrm>
            <a:off x="822960" y="5852160"/>
            <a:ext cx="10058400" cy="457200"/>
          </a:xfrm>
          <a:prstGeom prst="rect">
            <a:avLst/>
          </a:prstGeom>
          <a:noFill/>
        </p:spPr>
        <p:txBody>
          <a:bodyPr wrap="square" anchor="t">
            <a:spAutoFit/>
          </a:bodyPr>
          <a:lstStyle/>
          <a:p>
            <a:pPr algn="l">
              <a:lnSpc>
                <a:spcPct val="105000"/>
              </a:lnSpc>
              <a:spcBef>
                <a:spcPts val="0"/>
              </a:spcBef>
              <a:spcAft>
                <a:spcPts val="600"/>
              </a:spcAft>
            </a:pPr>
            <a:r>
              <a:rPr sz="1400" b="1">
                <a:solidFill>
                  <a:srgbClr val="8EC7F0"/>
                </a:solidFill>
                <a:latin typeface="Calibri"/>
              </a:rPr>
              <a:t>Discussion &amp; 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