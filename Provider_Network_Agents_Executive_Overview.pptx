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C7F0"/>
                </a:solidFill>
                <a:latin typeface="Calibri"/>
              </a:rPr>
              <a:t>AGENTFORCE  ·  PROVIDER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Provider Network 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C9DDF2"/>
                </a:solidFill>
                <a:latin typeface="Calibri"/>
              </a:rPr>
              <a:t>An AI agent portfolio for the provider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Executive Overview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B9C6D6"/>
                </a:solidFill>
                <a:latin typeface="Calibri"/>
              </a:rPr>
              <a:t>Six purpose-built Agentforce agents that automate contract inquiry, directory maintenance, provider search, network support, credentialing, and enrollment.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9B0"/>
                </a:solidFill>
                <a:latin typeface="Calibri"/>
              </a:rPr>
              <a:t>Prepared for the Executive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provider-network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44B54"/>
                </a:solidFill>
                <a:latin typeface="Calibri"/>
              </a:rPr>
              <a:t>Provider operations are high-volume, data-heavy, and compliance-sensitive. Staff spend hours searching across contracts, credentials, and directory records; providers wait on routine requests. These agents put trusted answers and guided actions one conversation away — grounded in Salesforce data, governed by approvals and audit trails.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36027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3602736" cy="128016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32D60"/>
                </a:solidFill>
                <a:latin typeface="Calibri"/>
              </a:rPr>
              <a:t>Faster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314553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Answers and lookups in seconds, not minutes — across contracts, profiles, and credentials.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788920"/>
            <a:ext cx="36027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788920"/>
            <a:ext cx="3602736" cy="128016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06324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32D60"/>
                </a:solidFill>
                <a:latin typeface="Calibri"/>
              </a:rPr>
              <a:t>Accuracy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611880"/>
            <a:ext cx="314553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Governed change requests, verification, and immutable audit logging keep data trustworthy.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2788920"/>
            <a:ext cx="36027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2788920"/>
            <a:ext cx="3602736" cy="128016"/>
          </a:xfrm>
          <a:prstGeom prst="rect">
            <a:avLst/>
          </a:prstGeom>
          <a:solidFill>
            <a:srgbClr val="B8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306324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32D60"/>
                </a:solidFill>
                <a:latin typeface="Calibri"/>
              </a:rPr>
              <a:t>Lower cost to 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611880"/>
            <a:ext cx="314553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Deflect routine inquiries and automate data entry; escalate to people only when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SIX AGENTS, ONE PROVIDER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portfolio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3383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399032"/>
            <a:ext cx="4480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399032"/>
            <a:ext cx="267919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Primary persona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73152" cy="78638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55648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Provider Contract Inquiry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55648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Retrieve &amp; explain provider contracts, fee schedules, amendments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755648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Network / payer staff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42032"/>
            <a:ext cx="1109167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42032"/>
            <a:ext cx="73152" cy="786384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42032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Provider Directory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542032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Governed directory change requests with approval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542032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Providers + data stewards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2841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28416"/>
            <a:ext cx="73152" cy="78638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28416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Provider Search &amp; Profile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328416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360° provider profile: credentials, contracts,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328416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Service / contact-center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1109167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73152" cy="786384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Provider Network Inquiries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114800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Verify providers, answer network questions, escalate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114800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Providers (self-service)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01184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901184"/>
            <a:ext cx="73152" cy="78638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01184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Credentialing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901184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Credential status, summaries, missing-document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901184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Credentialing specialists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87568"/>
            <a:ext cx="1109167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687568"/>
            <a:ext cx="73152" cy="786384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87568"/>
            <a:ext cx="3429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32D60"/>
                </a:solidFill>
                <a:latin typeface="Calibri"/>
              </a:rPr>
              <a:t>Provider Enrollment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687568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44B54"/>
                </a:solidFill>
                <a:latin typeface="Calibri"/>
              </a:rPr>
              <a:t>Guided onboarding that creates enrollment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687568"/>
            <a:ext cx="2743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D21"/>
                </a:solidFill>
                <a:latin typeface="Calibri"/>
              </a:rPr>
              <a:t>Onboarding / enrollment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 COMMON, GOVERNED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every agent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883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88336" cy="64008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3225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  User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32257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A staff member or provider asks in natural language via chat or messaging.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60604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DDE3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6883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688336" cy="64008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47088"/>
            <a:ext cx="23225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  Intelligent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32257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A router classifies intent (Einstein Hyper Classifier) and picks the right subagent.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60604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DDE3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26883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2688336" cy="640080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23225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  Trusted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32257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The subagent calls Salesforce Flows or Apex to read/write governed provider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606040"/>
            <a:ext cx="18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DDE3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737360"/>
            <a:ext cx="2688336" cy="2468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737360"/>
            <a:ext cx="2688336" cy="640080"/>
          </a:xfrm>
          <a:prstGeom prst="rect">
            <a:avLst/>
          </a:prstGeom>
          <a:solidFill>
            <a:srgbClr val="B8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847088"/>
            <a:ext cx="23225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  Clear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60320"/>
            <a:ext cx="232257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Results are summarized in plain language — with approvals, audit, or escalation as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Built on Salesforce &amp; shared by design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44B54"/>
                </a:solidFill>
                <a:latin typeface="Calibri"/>
              </a:rPr>
              <a:t>Agents reuse a common data model — HealthcareProvider, Credential, Contract, Provider Network — and are packaged as self-contained bundles with their own permission set groups, so each can be deployed and governed independently while sharing one source of truth.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Provider Contract Inquiry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Employee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Instantly retrieve and explain a provider's contract by contract number, provider name, or NPI.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Provider-network / payer staff — contract managers and network operations analysts.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Contract details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effective &amp; expiration dates, status, renewal insights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Network participation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which networks a provider belongs to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Fee schedules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reimbursement rates and rate types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Amendment history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summarized changes over the contract's life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Plain-language summaries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clean, business-friendly formatting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Cuts contract lookup</a:t>
            </a:r>
            <a:r>
              <a:rPr sz="1300" b="0">
                <a:solidFill>
                  <a:srgbClr val="444B54"/>
                </a:solidFill>
                <a:latin typeface="Calibri"/>
              </a:rPr>
              <a:t> from minutes of searching to a single question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Consistent answers</a:t>
            </a:r>
            <a:r>
              <a:rPr sz="1300" b="0">
                <a:solidFill>
                  <a:srgbClr val="444B54"/>
                </a:solidFill>
                <a:latin typeface="Calibri"/>
              </a:rPr>
              <a:t> — the same trusted format every time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Fewer errors</a:t>
            </a:r>
            <a:r>
              <a:rPr sz="1300" b="0">
                <a:solidFill>
                  <a:srgbClr val="444B54"/>
                </a:solidFill>
                <a:latin typeface="Calibri"/>
              </a:rPr>
              <a:t> when reviewing complex agreements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Contract Inquiry subagent → contract-enquiry Flow. Data: Contract, Contract Amendment, Fee Schedule, Healthcare Provider, Provider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Provider Directory Maintenance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Service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Governed self-service to keep provider directory data accurate and regulator-ready.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External providers &amp; members submit changes; directory data stewards review and approve.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Submit changes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address, phone, hours, languages, accessibility, telehealth, accepting-new-patients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Search provider </a:t>
            </a:r>
            <a:r>
              <a:rPr sz="1300" b="0">
                <a:solidFill>
                  <a:srgbClr val="444B54"/>
                </a:solidFill>
                <a:latin typeface="Calibri"/>
              </a:rPr>
              <a:t>by identifier before editing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Validation &amp; approval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steward sign-off before anything publishes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Emergency change path </a:t>
            </a:r>
            <a:r>
              <a:rPr sz="1300" b="0">
                <a:solidFill>
                  <a:srgbClr val="444B54"/>
                </a:solidFill>
                <a:latin typeface="Calibri"/>
              </a:rPr>
              <a:t>for urgent corrections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Audit history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view the full trail of what changed and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Directory accuracy</a:t>
            </a:r>
            <a:r>
              <a:rPr sz="1300" b="0">
                <a:solidFill>
                  <a:srgbClr val="444B54"/>
                </a:solidFill>
                <a:latin typeface="Calibri"/>
              </a:rPr>
              <a:t> &amp; regulatory compliance (surprise-billing rules)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Immutable audit trail</a:t>
            </a:r>
            <a:r>
              <a:rPr sz="1300" b="0">
                <a:solidFill>
                  <a:srgbClr val="444B54"/>
                </a:solidFill>
                <a:latin typeface="Calibri"/>
              </a:rPr>
              <a:t> on every change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No change goes live</a:t>
            </a:r>
            <a:r>
              <a:rPr sz="1300" b="0">
                <a:solidFill>
                  <a:srgbClr val="444B54"/>
                </a:solidFill>
                <a:latin typeface="Calibri"/>
              </a:rPr>
              <a:t> without human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Directory Management subagent → Search / Submit / Status / Audit Flows + record-triggered approval &amp; audit flows. Data: Provider Change Request, Directory Audit Log, Contact.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Provider Search &amp; Profile Lookup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Service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A 360° provider profile in seconds — credentials, contracts, networks, locations, and compliance.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Service / contact-center agents and network staff handling provider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Search </a:t>
            </a:r>
            <a:r>
              <a:rPr sz="1300" b="0">
                <a:solidFill>
                  <a:srgbClr val="444B54"/>
                </a:solidFill>
                <a:latin typeface="Calibri"/>
              </a:rPr>
              <a:t>a provider by name or NPI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Credentials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licenses and certifications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Active contracts </a:t>
            </a:r>
            <a:r>
              <a:rPr sz="1300" b="0">
                <a:solidFill>
                  <a:srgbClr val="444B54"/>
                </a:solidFill>
                <a:latin typeface="Calibri"/>
              </a:rPr>
              <a:t>and network participation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Service locations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where the provider practices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Compliance issues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open flags on the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Faster case handling</a:t>
            </a:r>
            <a:r>
              <a:rPr sz="1300" b="0">
                <a:solidFill>
                  <a:srgbClr val="444B54"/>
                </a:solidFill>
                <a:latin typeface="Calibri"/>
              </a:rPr>
              <a:t> with everything in one place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Single source of truth</a:t>
            </a:r>
            <a:r>
              <a:rPr sz="1300" b="0">
                <a:solidFill>
                  <a:srgbClr val="444B54"/>
                </a:solidFill>
                <a:latin typeface="Calibri"/>
              </a:rPr>
              <a:t> across teams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Better provider &amp; member</a:t>
            </a:r>
            <a:r>
              <a:rPr sz="1300" b="0">
                <a:solidFill>
                  <a:srgbClr val="444B54"/>
                </a:solidFill>
                <a:latin typeface="Calibri"/>
              </a:rPr>
              <a:t>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Search/Profile + Network/Compliance subagents → 7 lookup Flows. Data: Credential, Service Location, Provider Compliance Issues, Provider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Provider Network Inquiries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Service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Answers provider network questions, verifies identity, and escalates to a person when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Providers contacting support through messaging; live service agents on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Provider verification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match on name, NPI, or phone before sharing data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Network &amp; fee inquiry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consolidated answer across provider, credentials, contracts, fees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Live-agent routing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seamless handoff when the agent can't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Deflects routine inquiries</a:t>
            </a:r>
            <a:r>
              <a:rPr sz="1300" b="0">
                <a:solidFill>
                  <a:srgbClr val="444B54"/>
                </a:solidFill>
                <a:latin typeface="Calibri"/>
              </a:rPr>
              <a:t> from live queues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Secures interactions</a:t>
            </a:r>
            <a:r>
              <a:rPr sz="1300" b="0">
                <a:solidFill>
                  <a:srgbClr val="444B54"/>
                </a:solidFill>
                <a:latin typeface="Calibri"/>
              </a:rPr>
              <a:t> through identity verification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Smooth escalation</a:t>
            </a:r>
            <a:r>
              <a:rPr sz="1300" b="0">
                <a:solidFill>
                  <a:srgbClr val="444B54"/>
                </a:solidFill>
                <a:latin typeface="Calibri"/>
              </a:rPr>
              <a:t> to humans preserves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Verification + Network Inquiries subagents → Verification &amp; Inquiry Apex actions + routing Flow. Data: Healthcare Provider, Credential, Fee Schedule.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Credentialing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Employee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Keeps provider credentialing on track — status, summaries, and missing-document follow-up.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Credentialing specialists managing provider onboarding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Credential status </a:t>
            </a:r>
            <a:r>
              <a:rPr sz="1300" b="0">
                <a:solidFill>
                  <a:srgbClr val="444B54"/>
                </a:solidFill>
                <a:latin typeface="Calibri"/>
              </a:rPr>
              <a:t>explained in plain language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Credentialing summary </a:t>
            </a:r>
            <a:r>
              <a:rPr sz="1300" b="0">
                <a:solidFill>
                  <a:srgbClr val="444B54"/>
                </a:solidFill>
                <a:latin typeface="Calibri"/>
              </a:rPr>
              <a:t>by NPI — a single readout of where a provider stands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Missing documents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identifies gaps and sends automated reminder emails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Faster credentialing cycle</a:t>
            </a:r>
            <a:r>
              <a:rPr sz="1300" b="0">
                <a:solidFill>
                  <a:srgbClr val="444B54"/>
                </a:solidFill>
                <a:latin typeface="Calibri"/>
              </a:rPr>
              <a:t> times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Fewer compliance gaps</a:t>
            </a:r>
            <a:r>
              <a:rPr sz="1300" b="0">
                <a:solidFill>
                  <a:srgbClr val="444B54"/>
                </a:solidFill>
                <a:latin typeface="Calibri"/>
              </a:rPr>
              <a:t> and re-work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Proactive follow-up</a:t>
            </a:r>
            <a:r>
              <a:rPr sz="1300" b="0">
                <a:solidFill>
                  <a:srgbClr val="444B54"/>
                </a:solidFill>
                <a:latin typeface="Calibri"/>
              </a:rPr>
              <a:t> without manual chasing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Case Summarization subagent → Credential Status / Credentialing Summary / Missing Documents Flows. Data: Credential, Credentialing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AGENT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Provider Enrollment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2011680" cy="310896"/>
          </a:xfrm>
          <a:prstGeom prst="round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8016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Guided enrollment that captures a new provider and creates the record in one 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091672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4844B"/>
                </a:solidFill>
                <a:latin typeface="Calibri"/>
              </a:rPr>
              <a:t>WHO USES IT   </a:t>
            </a:r>
            <a:r>
              <a:rPr sz="1300" b="0">
                <a:solidFill>
                  <a:srgbClr val="444B54"/>
                </a:solidFill>
                <a:latin typeface="Calibri"/>
              </a:rPr>
              <a:t>Provider onboarding / enrollment staff processing new provider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Guided demographics </a:t>
            </a:r>
            <a:r>
              <a:rPr sz="1300" b="0">
                <a:solidFill>
                  <a:srgbClr val="444B54"/>
                </a:solidFill>
                <a:latin typeface="Calibri"/>
              </a:rPr>
              <a:t>capture via a Lightning form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Document upload </a:t>
            </a:r>
            <a:r>
              <a:rPr sz="1300" b="0">
                <a:solidFill>
                  <a:srgbClr val="444B54"/>
                </a:solidFill>
                <a:latin typeface="Calibri"/>
              </a:rPr>
              <a:t>attached to the application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Automatic record creation </a:t>
            </a:r>
            <a:r>
              <a:rPr sz="1300" b="0">
                <a:solidFill>
                  <a:srgbClr val="444B54"/>
                </a:solidFill>
                <a:latin typeface="Calibri"/>
              </a:rPr>
              <a:t>— an Enrollment record is created and linked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32D60"/>
                </a:solidFill>
                <a:latin typeface="Calibri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Faster provider onboarding</a:t>
            </a:r>
            <a:r>
              <a:rPr sz="1300" b="0">
                <a:solidFill>
                  <a:srgbClr val="444B54"/>
                </a:solidFill>
                <a:latin typeface="Calibri"/>
              </a:rPr>
              <a:t/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Structured, complete</a:t>
            </a:r>
            <a:r>
              <a:rPr sz="1300" b="0">
                <a:solidFill>
                  <a:srgbClr val="444B54"/>
                </a:solidFill>
                <a:latin typeface="Calibri"/>
              </a:rPr>
              <a:t> applications — less back-and-forth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▪  Less rekeying</a:t>
            </a:r>
            <a:r>
              <a:rPr sz="1300" b="0">
                <a:solidFill>
                  <a:srgbClr val="444B54"/>
                </a:solidFill>
                <a:latin typeface="Calibri"/>
              </a:rPr>
              <a:t> and manual data entry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892040"/>
            <a:ext cx="5010912" cy="1143000"/>
          </a:xfrm>
          <a:prstGeom prst="rect">
            <a:avLst/>
          </a:prstGeom>
          <a:solidFill>
            <a:srgbClr val="EC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892040"/>
            <a:ext cx="73152" cy="114300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176D3"/>
                </a:solidFill>
                <a:latin typeface="Calibri"/>
              </a:rPr>
              <a:t>UNDER THE 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44B54"/>
                </a:solidFill>
                <a:latin typeface="Calibri"/>
              </a:rPr>
              <a:t>Router → Demographics Check subagent → provider-enrollment Lightning Web Component + Enrollment Creation Apex. Data: Enrollment.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PERSONAS ACROSS 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Who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02736" cy="4480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02736" cy="566928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3697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Internal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Contract &amp; network operations — instant contract answers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Service / contact-center — 360° provider profiles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Credentialing specialists — status &amp; document tracking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Onboarding teams — guided, structured enrollment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417320"/>
            <a:ext cx="3602736" cy="4480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417320"/>
            <a:ext cx="3602736" cy="566928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17320"/>
            <a:ext cx="323697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Providers &amp;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Self-service directory corrections, governed by approval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Verified, secure network &amp; fee inquiries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Faster resolution with seamless human escalation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417320"/>
            <a:ext cx="3602736" cy="4480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417320"/>
            <a:ext cx="3602736" cy="566928"/>
          </a:xfrm>
          <a:prstGeom prst="rect">
            <a:avLst/>
          </a:prstGeom>
          <a:solidFill>
            <a:srgbClr val="B86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417320"/>
            <a:ext cx="323697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4884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Regulatory compliance &amp; audit-ready data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Lower cost to serve at higher volume</a:t>
            </a:r>
          </a:p>
          <a:p>
            <a:pPr>
              <a:lnSpc>
                <a:spcPct val="103000"/>
              </a:lnSpc>
              <a:spcAft>
                <a:spcPts val="11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▪  One trusted source of provider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C7F0"/>
                </a:solidFill>
                <a:latin typeface="Calibri"/>
              </a:rPr>
              <a:t>FROM PILOT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we are &amp;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57200" cy="1188720"/>
          </a:xfrm>
          <a:prstGeom prst="rect">
            <a:avLst/>
          </a:prstGeom>
          <a:solidFill>
            <a:srgbClr val="048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105156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8249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32D60"/>
                </a:solidFill>
                <a:latin typeface="Calibri"/>
              </a:rPr>
              <a:t>Now —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All six agents authored as deployable bundles with data model, Flows, Apex, and permission 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457200" cy="118872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457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971800"/>
            <a:ext cx="105156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09981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32D60"/>
                </a:solidFill>
                <a:latin typeface="Calibri"/>
              </a:rPr>
              <a:t>Next —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Deploy to a sandbox, connect live data, and validate with a small group of staff and providers.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457200" cy="118872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457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389120"/>
            <a:ext cx="105156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5171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32D60"/>
                </a:solidFill>
                <a:latin typeface="Calibri"/>
              </a:rPr>
              <a:t>Then —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44B54"/>
                </a:solidFill>
                <a:latin typeface="Calibri"/>
              </a:rPr>
              <a:t>Roll out by persona, add analytics on deflection &amp; cycle time, and extend to member &amp; care agents.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8A9099"/>
                </a:solidFill>
                <a:latin typeface="Calibri"/>
              </a:rPr>
              <a:t>Provider Network Agents  ·  Executive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44B5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Six agents. One provider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DDF2"/>
                </a:solidFill>
                <a:latin typeface="Calibri"/>
              </a:rPr>
              <a:t>Trusted, governed AI that helps staff move faster, helps providers self-serve, and keeps provider data accurate and audit-ready — built natively on Salesforce.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C7F0"/>
                </a:solidFill>
                <a:latin typeface="Calibri"/>
              </a:rPr>
              <a:t>Discussion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